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uiNom/rwnWggfe9ZlWkEBnl2+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Welcome students, frame this as a 3-hour foundations session for the whole course</a:t>
            </a:r>
            <a:br>
              <a:rPr lang="en-US"/>
            </a:br>
            <a:r>
              <a:rPr lang="en-US"/>
              <a:t>• Preview: today blends theory (frameworks, duties) with one live, unresolved case</a:t>
            </a:r>
            <a:br>
              <a:rPr lang="en-US"/>
            </a:br>
            <a:r>
              <a:rPr lang="en-US"/>
              <a:t>• Set expectations — this is discussion-heavy, not just lecture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through each block briefly — don't over-explain, just orient</a:t>
            </a:r>
            <a:br>
              <a:rPr lang="en-US"/>
            </a:br>
            <a:r>
              <a:rPr lang="en-US"/>
              <a:t>• Flag that Flock is a real, ongoing story — not a hypothetical</a:t>
            </a:r>
            <a:br>
              <a:rPr lang="en-US"/>
            </a:br>
            <a:r>
              <a:rPr lang="en-US"/>
              <a:t>• Mention timing: roughly 20-25 min per major section, activity at the end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Give students 2-3 minutes silent thinking or pair-share before cold-calling</a:t>
            </a:r>
            <a:br>
              <a:rPr lang="en-US"/>
            </a:br>
            <a:r>
              <a:rPr lang="en-US"/>
              <a:t>• Don't answer it yet — just collect a few examples on the board</a:t>
            </a:r>
            <a:br>
              <a:rPr lang="en-US"/>
            </a:br>
            <a:r>
              <a:rPr lang="en-US"/>
              <a:t>• Tell them you'll circle back to their examples during the lecture</a:t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pause here, no content to teach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Anchor the whole course on this one line: law is the floor, ethics asks for more</a:t>
            </a:r>
            <a:br>
              <a:rPr lang="en-US"/>
            </a:br>
            <a:r>
              <a:rPr lang="en-US"/>
              <a:t>• Ask students for an example where the two clearly diverge</a:t>
            </a:r>
            <a:br>
              <a:rPr lang="en-US"/>
            </a:br>
            <a:r>
              <a:rPr lang="en-US"/>
              <a:t>• Don't rush this — it's the conceptual foundation everything else builds on</a:t>
            </a:r>
            <a:endParaRPr/>
          </a:p>
        </p:txBody>
      </p:sp>
      <p:sp>
        <p:nvSpPr>
          <p:cNvPr id="85" name="Google Shape;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Use a quick example for each: a new AI tool, a breach victim who never finds out, an admin with database access</a:t>
            </a:r>
            <a:br>
              <a:rPr lang="en-US"/>
            </a:br>
            <a:r>
              <a:rPr lang="en-US"/>
              <a:t>• Tie 'privileged access' forward — this is the seed of the professional responsibility section</a:t>
            </a:r>
            <a:br>
              <a:rPr lang="en-US"/>
            </a:br>
            <a:r>
              <a:rPr lang="en-US"/>
              <a:t>• Ask: can students think of a job outside tech with this level of access?</a:t>
            </a:r>
            <a:endParaRPr/>
          </a:p>
        </p:txBody>
      </p:sp>
      <p:sp>
        <p:nvSpPr>
          <p:cNvPr id="105" name="Google Shape;1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Keep this brief — it's context, not the core content</a:t>
            </a:r>
            <a:br>
              <a:rPr lang="en-US"/>
            </a:br>
            <a:r>
              <a:rPr lang="en-US"/>
              <a:t>• Note the pattern: 1973 ethics, 1986 law, 2018 law-catching-up, 2026 unresolved</a:t>
            </a:r>
            <a:br>
              <a:rPr lang="en-US"/>
            </a:br>
            <a:r>
              <a:rPr lang="en-US"/>
              <a:t>• Flag that 2026 will get a full case study later today — don't dive in yet</a:t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pause here, no content to teach</a:t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This is the 'why should I care' slide — spend real time here</a:t>
            </a:r>
            <a:br>
              <a:rPr lang="en-US"/>
            </a:br>
            <a:r>
              <a:rPr lang="en-US"/>
              <a:t>• Contrast with other engineering fields: security doesn't build, it's trusted with what others built</a:t>
            </a:r>
            <a:br>
              <a:rPr lang="en-US"/>
            </a:br>
            <a:r>
              <a:rPr lang="en-US"/>
              <a:t>• Ask students: what's an example of asymmetric access they've seen or heard about?</a:t>
            </a:r>
            <a:endParaRPr/>
          </a:p>
        </p:txBody>
      </p:sp>
      <p:sp>
        <p:nvSpPr>
          <p:cNvPr id="164" name="Google Shape;16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Three consequences of ethical failure, in rough order of speed: trust, then legal exposure, then field-wide credibility</a:t>
            </a:r>
            <a:br>
              <a:rPr lang="en-US"/>
            </a:br>
            <a:r>
              <a:rPr lang="en-US"/>
              <a:t>• Trust is the hardest to rebuild — worth pausing on this point</a:t>
            </a:r>
            <a:br>
              <a:rPr lang="en-US"/>
            </a:br>
            <a:r>
              <a:rPr lang="en-US"/>
              <a:t>• Bridge to next section: these stakes are exactly why frameworks for reasoning matter</a:t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pause here, no content to teach</a:t>
            </a:r>
            <a:endParaRPr/>
          </a:p>
        </p:txBody>
      </p:sp>
      <p:sp>
        <p:nvSpPr>
          <p:cNvPr id="208" name="Google Shape;20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Emphasize: these are lenses, not a multiple-choice menu — professionals often use several at once</a:t>
            </a:r>
            <a:br>
              <a:rPr lang="en-US"/>
            </a:br>
            <a:r>
              <a:rPr lang="en-US"/>
              <a:t>• Read the five names aloud slowly — students will hear these terms all semester</a:t>
            </a:r>
            <a:br>
              <a:rPr lang="en-US"/>
            </a:br>
            <a:r>
              <a:rPr lang="en-US"/>
              <a:t>• No need to define each in depth yet — that's the next five slides</a:t>
            </a:r>
            <a:endParaRPr/>
          </a:p>
        </p:txBody>
      </p:sp>
      <p:sp>
        <p:nvSpPr>
          <p:cNvPr id="220" name="Google Shape;22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Cost-benefit reasoning — most intuitive framework for many students</a:t>
            </a:r>
            <a:br>
              <a:rPr lang="en-US"/>
            </a:br>
            <a:r>
              <a:rPr lang="en-US"/>
              <a:t>• Weakness to flag: it can justify sacrificing a minority for majority benefit</a:t>
            </a:r>
            <a:br>
              <a:rPr lang="en-US"/>
            </a:br>
            <a:r>
              <a:rPr lang="en-US"/>
              <a:t>• Ask: who counts in the calculation, and who gets left out?</a:t>
            </a:r>
            <a:endParaRPr/>
          </a:p>
        </p:txBody>
      </p:sp>
      <p:sp>
        <p:nvSpPr>
          <p:cNvPr id="255" name="Google Shape;2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Contrast directly with utilitarianism from the prior slide</a:t>
            </a:r>
            <a:br>
              <a:rPr lang="en-US"/>
            </a:br>
            <a:r>
              <a:rPr lang="en-US"/>
              <a:t>• Key phrase: 'duty regardless of outcome' — outcomes don't excuse a broken duty</a:t>
            </a:r>
            <a:br>
              <a:rPr lang="en-US"/>
            </a:br>
            <a:r>
              <a:rPr lang="en-US"/>
              <a:t>• Mention Kant by name briefly, no need to go deep into his philosophy</a:t>
            </a:r>
            <a:endParaRPr/>
          </a:p>
        </p:txBody>
      </p:sp>
      <p:sp>
        <p:nvSpPr>
          <p:cNvPr id="271" name="Google Shape;27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Useful for situations rules haven't anticipated yet — ties back to 'tech outpaces law'</a:t>
            </a:r>
            <a:br>
              <a:rPr lang="en-US"/>
            </a:br>
            <a:r>
              <a:rPr lang="en-US"/>
              <a:t>• Ask: who's a security professional you'd point to as a model of good character, and why?</a:t>
            </a:r>
            <a:br>
              <a:rPr lang="en-US"/>
            </a:br>
            <a:r>
              <a:rPr lang="en-US"/>
              <a:t>• This is about habits over time, not a single decision</a:t>
            </a:r>
            <a:endParaRPr/>
          </a:p>
        </p:txBody>
      </p:sp>
      <p:sp>
        <p:nvSpPr>
          <p:cNvPr id="287" name="Google Shape;28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This is the framework most directly relevant to today's Flock case study — flag that connection</a:t>
            </a:r>
            <a:br>
              <a:rPr lang="en-US"/>
            </a:br>
            <a:r>
              <a:rPr lang="en-US"/>
              <a:t>• Contrast with utilitarianism: rights aren't up for a majority vote</a:t>
            </a:r>
            <a:br>
              <a:rPr lang="en-US"/>
            </a:br>
            <a:r>
              <a:rPr lang="en-US"/>
              <a:t>• Ask which rights students think should never be traded away</a:t>
            </a:r>
            <a:endParaRPr/>
          </a:p>
        </p:txBody>
      </p:sp>
      <p:sp>
        <p:nvSpPr>
          <p:cNvPr id="303" name="Google Shape;30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Ask for a show of hands: who actually reads Terms of Service before clicking accept?</a:t>
            </a:r>
            <a:br>
              <a:rPr lang="en-US"/>
            </a:br>
            <a:r>
              <a:rPr lang="en-US"/>
              <a:t>• This framework is easy to poke holes in — that's the point, let students push back</a:t>
            </a:r>
            <a:br>
              <a:rPr lang="en-US"/>
            </a:br>
            <a:r>
              <a:rPr lang="en-US"/>
              <a:t>• Last framework — transition next into applying all five to one scenario</a:t>
            </a:r>
            <a:endParaRPr/>
          </a:p>
        </p:txBody>
      </p:sp>
      <p:sp>
        <p:nvSpPr>
          <p:cNvPr id="319" name="Google Shape;31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This is the payoff slide for the framework section — walk through each row briefly</a:t>
            </a:r>
            <a:br>
              <a:rPr lang="en-US"/>
            </a:br>
            <a:r>
              <a:rPr lang="en-US"/>
              <a:t>• Point out that frameworks don't converge to one answer here — that's the lesson, not a bug</a:t>
            </a:r>
            <a:br>
              <a:rPr lang="en-US"/>
            </a:br>
            <a:r>
              <a:rPr lang="en-US"/>
              <a:t>• Good spot for a quick poll: which framework feels most persuasive to you personally?</a:t>
            </a:r>
            <a:endParaRPr/>
          </a:p>
        </p:txBody>
      </p:sp>
      <p:sp>
        <p:nvSpPr>
          <p:cNvPr id="335" name="Google Shape;33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pause here, no content to teach</a:t>
            </a:r>
            <a:endParaRPr/>
          </a:p>
        </p:txBody>
      </p:sp>
      <p:sp>
        <p:nvSpPr>
          <p:cNvPr id="361" name="Google Shape;36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Note duty to the public is listed first and broadest — most codes open with this</a:t>
            </a:r>
            <a:br>
              <a:rPr lang="en-US"/>
            </a:br>
            <a:r>
              <a:rPr lang="en-US"/>
              <a:t>• Ask students which duty feels most natural to them and which feels most easily neglected</a:t>
            </a:r>
            <a:br>
              <a:rPr lang="en-US"/>
            </a:br>
            <a:r>
              <a:rPr lang="en-US"/>
              <a:t>• Set up next slide: these four duties can conflict, and whistleblowing is the sharpest example</a:t>
            </a:r>
            <a:endParaRPr/>
          </a:p>
        </p:txBody>
      </p:sp>
      <p:sp>
        <p:nvSpPr>
          <p:cNvPr id="373" name="Google Shape;373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If assigned as pre-work, ask students what stood out in the code they read</a:t>
            </a:r>
            <a:br>
              <a:rPr lang="en-US"/>
            </a:br>
            <a:r>
              <a:rPr lang="en-US"/>
              <a:t>• If not assigned, pull it up live and skim the preamble together</a:t>
            </a:r>
            <a:br>
              <a:rPr lang="en-US"/>
            </a:br>
            <a:r>
              <a:rPr lang="en-US"/>
              <a:t>• Whistleblowing: emphasize legal risk and retaliation are real, not just a hypothetical caveat</a:t>
            </a:r>
            <a:endParaRPr/>
          </a:p>
        </p:txBody>
      </p:sp>
      <p:sp>
        <p:nvSpPr>
          <p:cNvPr id="402" name="Google Shape;40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this is the conceptual core of the whole course, flag that explicitly</a:t>
            </a:r>
            <a:endParaRPr/>
          </a:p>
        </p:txBody>
      </p:sp>
      <p:sp>
        <p:nvSpPr>
          <p:cNvPr id="422" name="Google Shape;42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Walk down each row — same structure every time: authority, enforcement, example</a:t>
            </a:r>
            <a:br>
              <a:rPr lang="en-US"/>
            </a:br>
            <a:r>
              <a:rPr lang="en-US"/>
              <a:t>• Have students name the category before you reveal the example for each row</a:t>
            </a:r>
            <a:br>
              <a:rPr lang="en-US"/>
            </a:br>
            <a:r>
              <a:rPr lang="en-US"/>
              <a:t>• This table is the reference students should keep coming back to all semester</a:t>
            </a:r>
            <a:endParaRPr/>
          </a:p>
        </p:txBody>
      </p:sp>
      <p:sp>
        <p:nvSpPr>
          <p:cNvPr id="434" name="Google Shape;43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This is where students usually get it — the four categories genuinely misalign in practice</a:t>
            </a:r>
            <a:br>
              <a:rPr lang="en-US"/>
            </a:br>
            <a:r>
              <a:rPr lang="en-US"/>
              <a:t>• Ask for a real or hypothetical example for each quadrant from students themselves</a:t>
            </a:r>
            <a:br>
              <a:rPr lang="en-US"/>
            </a:br>
            <a:r>
              <a:rPr lang="en-US"/>
              <a:t>• Bridge line: we're about to see all four of these in tension in one real, live case</a:t>
            </a:r>
            <a:endParaRPr/>
          </a:p>
        </p:txBody>
      </p:sp>
      <p:sp>
        <p:nvSpPr>
          <p:cNvPr id="483" name="Google Shape;483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tell students this case is happening in the news right now, not settled history</a:t>
            </a:r>
            <a:endParaRPr/>
          </a:p>
        </p:txBody>
      </p:sp>
      <p:sp>
        <p:nvSpPr>
          <p:cNvPr id="504" name="Google Shape;5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Ask: has anyone in the room seen one of these cameras locally?</a:t>
            </a:r>
            <a:br>
              <a:rPr lang="en-US"/>
            </a:br>
            <a:r>
              <a:rPr lang="en-US"/>
              <a:t>• Emphasize scale — this isn't a pilot program, it's 6,000+ communities and growing</a:t>
            </a:r>
            <a:br>
              <a:rPr lang="en-US"/>
            </a:br>
            <a:r>
              <a:rPr lang="en-US"/>
              <a:t>• Keep neutral tone here — save the 'for and against' framing for the next two slides</a:t>
            </a:r>
            <a:endParaRPr/>
          </a:p>
        </p:txBody>
      </p:sp>
      <p:sp>
        <p:nvSpPr>
          <p:cNvPr id="516" name="Google Shape;51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Flag the 10% stat as contested even by Flock's own researchers — model good source skepticism here</a:t>
            </a:r>
            <a:br>
              <a:rPr lang="en-US"/>
            </a:br>
            <a:r>
              <a:rPr lang="en-US"/>
              <a:t>• This is the strongest steelman for supporters — give it a fair hearing before moving to critics</a:t>
            </a:r>
            <a:br>
              <a:rPr lang="en-US"/>
            </a:br>
            <a:r>
              <a:rPr lang="en-US"/>
              <a:t>• Present this like a prosecutor would: real benefits, genuinely used by real departments</a:t>
            </a:r>
            <a:endParaRPr/>
          </a:p>
        </p:txBody>
      </p:sp>
      <p:sp>
        <p:nvSpPr>
          <p:cNvPr id="537" name="Google Shape;53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The gunpoint and wrongful-suspect stories land hard — give them a beat before moving on</a:t>
            </a:r>
            <a:br>
              <a:rPr lang="en-US"/>
            </a:br>
            <a:r>
              <a:rPr lang="en-US"/>
              <a:t>• 'Unsettled area of law' quote ties directly back to the legal/ethical distinction from earlier</a:t>
            </a:r>
            <a:br>
              <a:rPr lang="en-US"/>
            </a:br>
            <a:r>
              <a:rPr lang="en-US"/>
              <a:t>• Mission creep into immigration enforcement is the piece most likely to surprise students</a:t>
            </a:r>
            <a:endParaRPr/>
          </a:p>
        </p:txBody>
      </p:sp>
      <p:sp>
        <p:nvSpPr>
          <p:cNvPr id="555" name="Google Shape;55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The vandalism examples show how strong public sentiment has gotten — not just petitions</a:t>
            </a:r>
            <a:br>
              <a:rPr lang="en-US"/>
            </a:br>
            <a:r>
              <a:rPr lang="en-US"/>
              <a:t>• City-level pullouts show local policy genuinely varies — tie back to the 'policy' category</a:t>
            </a:r>
            <a:br>
              <a:rPr lang="en-US"/>
            </a:br>
            <a:r>
              <a:rPr lang="en-US"/>
              <a:t>• Flock's August 2026 changes are very recent — ask if students think this is enough, and why or why not</a:t>
            </a:r>
            <a:endParaRPr/>
          </a:p>
        </p:txBody>
      </p:sp>
      <p:sp>
        <p:nvSpPr>
          <p:cNvPr id="576" name="Google Shape;57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This slide is the whole lecture in miniature — take your time here</a:t>
            </a:r>
            <a:br>
              <a:rPr lang="en-US"/>
            </a:br>
            <a:r>
              <a:rPr lang="en-US"/>
              <a:t>• Explicitly point out utilitarian vs. rights-based tension in the Ethical row</a:t>
            </a:r>
            <a:br>
              <a:rPr lang="en-US"/>
            </a:br>
            <a:r>
              <a:rPr lang="en-US"/>
              <a:t>• Use this as a model for how students should structure their own activity write-up</a:t>
            </a:r>
            <a:endParaRPr/>
          </a:p>
        </p:txBody>
      </p:sp>
      <p:sp>
        <p:nvSpPr>
          <p:cNvPr id="600" name="Google Shape;60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Let these sit — don't rush to fill silence, these are meant to be genuinely hard</a:t>
            </a:r>
            <a:br>
              <a:rPr lang="en-US"/>
            </a:br>
            <a:r>
              <a:rPr lang="en-US"/>
              <a:t>• No need to resolve them today — they're meant to prime the activity, not conclude the case</a:t>
            </a:r>
            <a:br>
              <a:rPr lang="en-US"/>
            </a:br>
            <a:r>
              <a:rPr lang="en-US"/>
              <a:t>• Good moment for a short break before the activity if the class needs one</a:t>
            </a:r>
            <a:endParaRPr/>
          </a:p>
        </p:txBody>
      </p:sp>
      <p:sp>
        <p:nvSpPr>
          <p:cNvPr id="621" name="Google Shape;621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Transition slide — get students into groups of 3-4 now before explaining instructions</a:t>
            </a:r>
            <a:endParaRPr/>
          </a:p>
        </p:txBody>
      </p:sp>
      <p:sp>
        <p:nvSpPr>
          <p:cNvPr id="641" name="Google Shape;64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This scenario is deliberately different from Flock — a personal researcher dilemma, not a corporate/government one</a:t>
            </a:r>
            <a:br>
              <a:rPr lang="en-US"/>
            </a:br>
            <a:r>
              <a:rPr lang="en-US"/>
              <a:t>• Circulate during the 35 minutes — listen for groups only doing legal or only doing ethical analysis</a:t>
            </a:r>
            <a:br>
              <a:rPr lang="en-US"/>
            </a:br>
            <a:r>
              <a:rPr lang="en-US"/>
              <a:t>• Remind groups they need a clear recommendation, not just competing considerations</a:t>
            </a:r>
            <a:endParaRPr/>
          </a:p>
        </p:txBody>
      </p:sp>
      <p:sp>
        <p:nvSpPr>
          <p:cNvPr id="653" name="Google Shape;65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Call on 2-3 groups with visibly different recommendations to present back-to-back</a:t>
            </a:r>
            <a:br>
              <a:rPr lang="en-US"/>
            </a:br>
            <a:r>
              <a:rPr lang="en-US"/>
              <a:t>• Resist the urge to declare a 'correct' answer — model the reasoning process instead</a:t>
            </a:r>
            <a:br>
              <a:rPr lang="en-US"/>
            </a:br>
            <a:r>
              <a:rPr lang="en-US"/>
              <a:t>• Explicitly validate 'it depends' answers that show real framework-based reasoning</a:t>
            </a:r>
            <a:endParaRPr/>
          </a:p>
        </p:txBody>
      </p:sp>
      <p:sp>
        <p:nvSpPr>
          <p:cNvPr id="680" name="Google Shape;680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Read these slowly — this is the summary students should walk away able to repeat</a:t>
            </a:r>
            <a:br>
              <a:rPr lang="en-US"/>
            </a:br>
            <a:r>
              <a:rPr lang="en-US"/>
              <a:t>• Tie the Flock point back to the opening discussion question from the start of class</a:t>
            </a:r>
            <a:br>
              <a:rPr lang="en-US"/>
            </a:br>
            <a:r>
              <a:rPr lang="en-US"/>
              <a:t>• Good spot for a final round of questions before moving to next week's preview</a:t>
            </a:r>
            <a:endParaRPr/>
          </a:p>
        </p:txBody>
      </p:sp>
      <p:sp>
        <p:nvSpPr>
          <p:cNvPr id="701" name="Google Shape;70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Remind students to bring their case study write-up next week</a:t>
            </a:r>
            <a:br>
              <a:rPr lang="en-US"/>
            </a:br>
            <a:r>
              <a:rPr lang="en-US"/>
              <a:t>• Preview that next week adds statutory detail on top of today's ethical reasoning</a:t>
            </a:r>
            <a:br>
              <a:rPr lang="en-US"/>
            </a:br>
            <a:r>
              <a:rPr lang="en-US"/>
              <a:t>• End on the throughline: ethics first, law layered on top — not the reverse</a:t>
            </a:r>
            <a:endParaRPr/>
          </a:p>
        </p:txBody>
      </p:sp>
      <p:sp>
        <p:nvSpPr>
          <p:cNvPr id="724" name="Google Shape;72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28.png"/><Relationship Id="rId5" Type="http://schemas.openxmlformats.org/officeDocument/2006/relationships/image" Target="../media/image14.png"/><Relationship Id="rId6" Type="http://schemas.openxmlformats.org/officeDocument/2006/relationships/image" Target="../media/image30.png"/><Relationship Id="rId7" Type="http://schemas.openxmlformats.org/officeDocument/2006/relationships/image" Target="../media/image13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.png"/><Relationship Id="rId5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30.png"/><Relationship Id="rId5" Type="http://schemas.openxmlformats.org/officeDocument/2006/relationships/image" Target="../media/image8.png"/><Relationship Id="rId6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Relationship Id="rId4" Type="http://schemas.openxmlformats.org/officeDocument/2006/relationships/image" Target="../media/image52.png"/><Relationship Id="rId5" Type="http://schemas.openxmlformats.org/officeDocument/2006/relationships/image" Target="../media/image5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Relationship Id="rId4" Type="http://schemas.openxmlformats.org/officeDocument/2006/relationships/image" Target="../media/image47.png"/><Relationship Id="rId5" Type="http://schemas.openxmlformats.org/officeDocument/2006/relationships/image" Target="../media/image1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778240" y="1005840"/>
            <a:ext cx="2926080" cy="2926080"/>
          </a:xfrm>
          <a:prstGeom prst="ellipse">
            <a:avLst/>
          </a:prstGeom>
          <a:solidFill>
            <a:srgbClr val="112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555480" y="1783080"/>
            <a:ext cx="1371600" cy="13716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4664" y="2112264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822960" y="1463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WEEK 1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1965960"/>
            <a:ext cx="7040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Foundations of Cyber Ethics and Law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22960" y="61264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93B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7E93B3"/>
                </a:solidFill>
                <a:latin typeface="Calibri"/>
                <a:ea typeface="Calibri"/>
                <a:cs typeface="Calibri"/>
                <a:sym typeface="Calibri"/>
              </a:rPr>
              <a:t>Cyber Ethics and Law  |  Week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Today's Agenda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57784" y="170078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target_00B4D8.png" id="31" name="Google Shape;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014" y="185001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25880" y="1664208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1993392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What cyber ethics and cyber law are, and why the field exists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57784" y="2871216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35" name="Google Shape;3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014" y="3020446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1325880" y="28346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Why Ethics Matters in Security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325880" y="3163824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unique stakes of a profession built on privileged access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57784" y="4041648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cale_00B4D8.png" id="39" name="Google Shape;3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7014" y="4190878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325880" y="4005072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4334256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Five lenses for reasoning through hard calls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57784" y="5212080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iefcase_00B4D8.png" id="43" name="Google Shape;4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7014" y="5361310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1325880" y="5175504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Professional Responsibility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1325880" y="5504688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Duties to employers, the public, and the profession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01384" y="170078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0B4D8.png" id="47" name="Google Shape;4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50614" y="185001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269480" y="1664208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Legal vs. Ethical vs. Policy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269480" y="1993392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Telling four kinds of obligation apart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501384" y="2871216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amera_00B4D8.png" id="51" name="Google Shape;5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50614" y="3020446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7269480" y="2834640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Case Study: Flock Cameras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7269480" y="3163824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Applying every framework to a live, unresolved controversy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501384" y="4041648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55" name="Google Shape;5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50614" y="4190878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7269480" y="4005072"/>
            <a:ext cx="4617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Group Activity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269480" y="4334256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Case analysis, debate, and debrief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5500116" y="1143000"/>
            <a:ext cx="1188720" cy="118872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5409" y="142829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914400" y="251460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OPENING QUESTION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88720" y="2926080"/>
            <a:ext cx="97840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“Can something be perfectly legal and still be wrong?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 something violate policy but still be the right thing to do?”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ompass_00B4D8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Foundations of Cyber Ethics and Law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What ties law and ethics together — and what pulls them apart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Two Related, Distinct Fields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548640" y="1737360"/>
            <a:ext cx="5349240" cy="356616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43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960120" y="2011680"/>
            <a:ext cx="822960" cy="82296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cale_00B4D8.png"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630" y="22091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5"/>
          <p:cNvSpPr/>
          <p:nvPr/>
        </p:nvSpPr>
        <p:spPr>
          <a:xfrm>
            <a:off x="914400" y="297180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Cyber Ethics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051560" y="3566160"/>
            <a:ext cx="4343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The branch of applied ethics concerned with moral behavior in computing and information technology.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Asks: how people and organizations OUGHT to act with respect to data, systems, privacy, and digital harm.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263640" y="1737360"/>
            <a:ext cx="5349240" cy="356616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5400000" dist="38100">
              <a:srgbClr val="1B243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675120" y="2011680"/>
            <a:ext cx="822960" cy="822960"/>
          </a:xfrm>
          <a:prstGeom prst="ellipse">
            <a:avLst/>
          </a:prstGeom>
          <a:solidFill>
            <a:srgbClr val="E7EC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B1F3A.png" id="96" name="Google Shape;9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2630" y="220919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6629400" y="297180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Cyber Law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6766560" y="3566160"/>
            <a:ext cx="4343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The body of statutes, regulations, and case law governing conduct in digital and networked environments.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Asks: what people and organizations are LEGALLY required or prohibited from doing.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The key distinction: law tells you the floor. Ethics often asks for more than the floor.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Why Cyber Ethics Is Its Own Discipline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49224" y="183794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trending_00B4D8.png" id="110" name="Google Shape;11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54" y="198717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1417320" y="180136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Technology outpaces law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417320" y="213055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Legislation takes years; new tools, platforms, and attack techniques emerge in months. Professionals routinely face situations the law hasn't addressed yet.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9224" y="325526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eye_00B4D8.png" id="114" name="Google Shape;11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54" y="340449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1417320" y="321868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Harms are often invisible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417320" y="354787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breach's victims may never know they were affected. Diffuse, delayed harm is much harder to hold anyone accountable for than physical-world harm.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49224" y="467258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lock_00B4D8.png" id="118" name="Google Shape;11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54" y="482181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1417320" y="463600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Privileged access raises the stakes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417320" y="496519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IT and security professionals routinely have access to data and systems most professions never touch — which multiplies the ethical weight of ordinary daily decisions.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FOUNDATIONS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Historical Anchor Points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7"/>
          <p:cNvCxnSpPr/>
          <p:nvPr/>
        </p:nvCxnSpPr>
        <p:spPr>
          <a:xfrm>
            <a:off x="822960" y="2834640"/>
            <a:ext cx="10515600" cy="0"/>
          </a:xfrm>
          <a:prstGeom prst="straightConnector1">
            <a:avLst/>
          </a:prstGeom>
          <a:noFill/>
          <a:ln cap="flat" cmpd="sng" w="38100">
            <a:solidFill>
              <a:srgbClr val="C7D4E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7"/>
          <p:cNvSpPr/>
          <p:nvPr/>
        </p:nvSpPr>
        <p:spPr>
          <a:xfrm>
            <a:off x="694944" y="2706624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274320" y="1234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1973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274320" y="1600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ACM Code of Ethics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274320" y="2039112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First major professional code of ethics for computing, later revised — an early sign law alone wasn't sufficient guidance.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4200144" y="2706624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3093720" y="32004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1986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3093720" y="35661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Computer Fraud and Abuse 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3093720" y="4005072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One of the first major U.S. attempts to legislate computer crime.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7705344" y="2706624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6598920" y="12344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2018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598920" y="160020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GDPR takes effect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598920" y="2039112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Law catches up to privacy expectations that had been debated for years — a model for law following ethics.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1210544" y="2706624"/>
            <a:ext cx="256032" cy="256032"/>
          </a:xfrm>
          <a:prstGeom prst="ellipse">
            <a:avLst/>
          </a:prstGeom>
          <a:solidFill>
            <a:srgbClr val="00B4D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9445752" y="32004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9445752" y="3566160"/>
            <a:ext cx="2468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Flock Safety backlash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9445752" y="4005072"/>
            <a:ext cx="246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live case study in what happens when deployment outpaces public consent — covered later today.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Why Ethics Matters in Cybersecurity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The unique stakes of a profession built on trust and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IMPORTANCE OF ETHICS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Security Is a Trust Profession First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Every other engineering discipline builds things. Security professionals are handed the keys to things other people built — and asked not to misuse them.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649224" y="252374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lock_00B4D8.png"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54" y="267297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9"/>
          <p:cNvSpPr/>
          <p:nvPr/>
        </p:nvSpPr>
        <p:spPr>
          <a:xfrm>
            <a:off x="1417320" y="248716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Asymmetric access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417320" y="281635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Security staff can often read emails, monitor traffic, access financial systems, and see data no one else in the organization can see.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49224" y="380390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eye_00B4D8.png" id="174" name="Google Shape;17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54" y="395313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1417320" y="376732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Asymmetric knowledge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1417320" y="409651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Most people can't evaluate whether a security decision was reasonable. Clients and the public must trust professional judgment they cannot independently verify.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9224" y="508406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_00B4D8.png" id="178" name="Google Shape;17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54" y="523329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9"/>
          <p:cNvSpPr/>
          <p:nvPr/>
        </p:nvSpPr>
        <p:spPr>
          <a:xfrm>
            <a:off x="1417320" y="504748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Asymmetric consequences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1417320" y="537667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single unethical or careless decision — a leaked database, an unpatched system, a misused surveillance tool — can affect thousands of people who never consented to the risk.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WHAT'S AT STAKE WHEN ETHICS FAILS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30936" y="1828800"/>
            <a:ext cx="3429000" cy="3291840"/>
          </a:xfrm>
          <a:prstGeom prst="roundRect">
            <a:avLst>
              <a:gd fmla="val 2778" name="adj"/>
            </a:avLst>
          </a:prstGeom>
          <a:solidFill>
            <a:srgbClr val="08142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2025396" y="2148840"/>
            <a:ext cx="640080" cy="640080"/>
          </a:xfrm>
          <a:prstGeom prst="ellipse">
            <a:avLst/>
          </a:prstGeom>
          <a:solidFill>
            <a:srgbClr val="0F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191" name="Google Shape;19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9015" y="23024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0"/>
          <p:cNvSpPr/>
          <p:nvPr/>
        </p:nvSpPr>
        <p:spPr>
          <a:xfrm>
            <a:off x="905256" y="288036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Public trust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950976" y="342900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Erodes fastest — and is the hardest thing in security to rebuild once lost.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4379976" y="1828800"/>
            <a:ext cx="3429000" cy="3291840"/>
          </a:xfrm>
          <a:prstGeom prst="roundRect">
            <a:avLst>
              <a:gd fmla="val 2778" name="adj"/>
            </a:avLst>
          </a:prstGeom>
          <a:solidFill>
            <a:srgbClr val="08142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5774436" y="2148840"/>
            <a:ext cx="640080" cy="640080"/>
          </a:xfrm>
          <a:prstGeom prst="ellipse">
            <a:avLst/>
          </a:prstGeom>
          <a:solidFill>
            <a:srgbClr val="0F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0B4D8.png" id="196" name="Google Shape;19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8055" y="23024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0"/>
          <p:cNvSpPr/>
          <p:nvPr/>
        </p:nvSpPr>
        <p:spPr>
          <a:xfrm>
            <a:off x="4654296" y="288036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Legal exposure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4700016" y="342900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Regulatory fines, lawsuits, and consent decrees often follow ethical failures before criminal ones.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8129016" y="1828800"/>
            <a:ext cx="3429000" cy="3291840"/>
          </a:xfrm>
          <a:prstGeom prst="roundRect">
            <a:avLst>
              <a:gd fmla="val 2778" name="adj"/>
            </a:avLst>
          </a:prstGeom>
          <a:solidFill>
            <a:srgbClr val="081426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9523476" y="2148840"/>
            <a:ext cx="640080" cy="640080"/>
          </a:xfrm>
          <a:prstGeom prst="ellipse">
            <a:avLst/>
          </a:prstGeom>
          <a:solidFill>
            <a:srgbClr val="0F2E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_00B4D8.png" id="201" name="Google Shape;20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7095" y="2302459"/>
            <a:ext cx="332842" cy="332842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8403336" y="288036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profession's credibility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8449056" y="342900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One high-profile misuse of access reinforces public suspicion of the entire field.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cale_00B4D8.png" id="212" name="Google Shape;2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1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Ethical Frameworks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Five lenses professionals use to reason through hard calls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Five Lenses, Not Five Competing Answers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Professionals often use more than one framework when reasoning through a genuinely hard case. Think of these as lenses to look through, not a checklist to pick from.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608076" y="2331720"/>
            <a:ext cx="2084832" cy="3291840"/>
          </a:xfrm>
          <a:prstGeom prst="roundRect">
            <a:avLst>
              <a:gd fmla="val 43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1307592" y="2583180"/>
            <a:ext cx="685800" cy="6858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activity_00B4D8.png" id="227" name="Google Shape;2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2184" y="27477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/>
          <p:nvPr/>
        </p:nvSpPr>
        <p:spPr>
          <a:xfrm>
            <a:off x="745236" y="338328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Utilitarianism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772668" y="4023360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Judge by outcomes — the greatest good for the greatest number.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2830068" y="2331720"/>
            <a:ext cx="2084832" cy="3291840"/>
          </a:xfrm>
          <a:prstGeom prst="roundRect">
            <a:avLst>
              <a:gd fmla="val 43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3529584" y="2583180"/>
            <a:ext cx="685800" cy="6858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0B4D8.png" id="232" name="Google Shape;23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4176" y="27477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2"/>
          <p:cNvSpPr/>
          <p:nvPr/>
        </p:nvSpPr>
        <p:spPr>
          <a:xfrm>
            <a:off x="2967228" y="338328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Deontology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2994660" y="4023360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Judge by duty — does the action follow a moral rule, regardless of outcome?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5052060" y="2331720"/>
            <a:ext cx="2084832" cy="3291840"/>
          </a:xfrm>
          <a:prstGeom prst="roundRect">
            <a:avLst>
              <a:gd fmla="val 43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5751576" y="2583180"/>
            <a:ext cx="685800" cy="6858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237" name="Google Shape;23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6168" y="27477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2"/>
          <p:cNvSpPr/>
          <p:nvPr/>
        </p:nvSpPr>
        <p:spPr>
          <a:xfrm>
            <a:off x="5189220" y="338328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Virtue Ethics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5216652" y="4023360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Judge by character — what would a person of integrity and prudence do?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7274052" y="2331720"/>
            <a:ext cx="2084832" cy="3291840"/>
          </a:xfrm>
          <a:prstGeom prst="roundRect">
            <a:avLst>
              <a:gd fmla="val 43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"/>
          <p:cNvSpPr/>
          <p:nvPr/>
        </p:nvSpPr>
        <p:spPr>
          <a:xfrm>
            <a:off x="7973568" y="2583180"/>
            <a:ext cx="685800" cy="6858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lock_00B4D8.png" id="242" name="Google Shape;24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0" y="27477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2"/>
          <p:cNvSpPr/>
          <p:nvPr/>
        </p:nvSpPr>
        <p:spPr>
          <a:xfrm>
            <a:off x="7411212" y="338328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Rights-Based Ethics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438644" y="4023360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Judge by rights — some claims (privacy, autonomy) hold even against the greater good.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9496044" y="2331720"/>
            <a:ext cx="2084832" cy="3291840"/>
          </a:xfrm>
          <a:prstGeom prst="roundRect">
            <a:avLst>
              <a:gd fmla="val 438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10195560" y="2583180"/>
            <a:ext cx="685800" cy="6858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_00B4D8.png" id="247" name="Google Shape;24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60152" y="2747772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/>
          <p:nvPr/>
        </p:nvSpPr>
        <p:spPr>
          <a:xfrm>
            <a:off x="9633204" y="3383280"/>
            <a:ext cx="181051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Social Contract Theory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9660636" y="4023360"/>
            <a:ext cx="175564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Judge by agreement — obligations arise from the implicit terms between parties.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Utilitarianism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10424160" y="594360"/>
            <a:ext cx="914400" cy="9144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activity_00B4D8.png" id="260" name="Google Shape;2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616" y="81381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3"/>
          <p:cNvSpPr/>
          <p:nvPr/>
        </p:nvSpPr>
        <p:spPr>
          <a:xfrm>
            <a:off x="548640" y="15087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Greatest good for the greatest number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548640" y="2148840"/>
            <a:ext cx="11064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3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868680" y="265176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Is it justified to monitor employee communications if doing so prevents a breach that would harm thousands of customers?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548640" y="416052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utilitarian weighs total benefit against total harm, across everyone affected — not just the parties in the room.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Deontology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10424160" y="594360"/>
            <a:ext cx="914400" cy="9144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0B4D8.png"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616" y="81381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/>
          <p:nvPr/>
        </p:nvSpPr>
        <p:spPr>
          <a:xfrm>
            <a:off x="548640" y="15087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Duty-based ethics (associated with Kant)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548640" y="2148840"/>
            <a:ext cx="11064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/>
          <p:nvPr/>
        </p:nvSpPr>
        <p:spPr>
          <a:xfrm>
            <a:off x="868680" y="265176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Even if disclosing a vulnerability might cause short-term harm before a patch exists, is there a duty to be honest with affected users regardless of consequences?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548640" y="416052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deontologist asks whether an action follows a moral rule — not whether the outcome turns out well.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Virtue Ethics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10424160" y="594360"/>
            <a:ext cx="914400" cy="9144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616" y="81381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548640" y="15087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Character over rules or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48640" y="2148840"/>
            <a:ext cx="11064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868680" y="265176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What habits of integrity, discretion, and prudence should a security professional cultivate — independent of any single decision?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548640" y="416052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 virtue ethicist asks what a person of good character would do, trusting that character to generalize across situations rules can't anticipate.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Rights-Based Ethics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10424160" y="594360"/>
            <a:ext cx="914400" cy="9144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lock_00B4D8.png" id="308" name="Google Shape;3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616" y="81381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/>
          <p:nvPr/>
        </p:nvSpPr>
        <p:spPr>
          <a:xfrm>
            <a:off x="548640" y="15087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Some claims hold regardless of the greater good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548640" y="2148840"/>
            <a:ext cx="11064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6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868680" y="265176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Do individuals have a right to control their own data — a right that shouldn't be overridden even if sharing that data would benefit others?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548640" y="416052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This is the framework behind most privacy law: certain rights (privacy, autonomy, due process) are treated as not up for a cost-benefit trade.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7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Social Contract Theory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0424160" y="594360"/>
            <a:ext cx="914400" cy="91440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_00B4D8.png" id="324" name="Google Shape;3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43616" y="813816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7"/>
          <p:cNvSpPr/>
          <p:nvPr/>
        </p:nvSpPr>
        <p:spPr>
          <a:xfrm>
            <a:off x="548640" y="15087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Obligations arise from implicit agreement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548640" y="2148840"/>
            <a:ext cx="11064240" cy="173736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"/>
          <p:cNvSpPr/>
          <p:nvPr/>
        </p:nvSpPr>
        <p:spPr>
          <a:xfrm>
            <a:off x="868680" y="2331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SCENARIO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868680" y="2651760"/>
            <a:ext cx="10424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Terms of Service and end-user agreements attempt to formalize a social contract between companies and users.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48640" y="4160520"/>
            <a:ext cx="110642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Push students to ask: is this really 'agreed to' when most people never read what they're accepting?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ETHICAL FRAMEWORKS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8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One Scenario, Five Lenses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fmla="val 9412" name="adj"/>
            </a:avLst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8"/>
          <p:cNvSpPr/>
          <p:nvPr/>
        </p:nvSpPr>
        <p:spPr>
          <a:xfrm>
            <a:off x="822960" y="16002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1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company discovers a vulnerability that's actively being exploited. Disclosing it publicly will hand attackers a roadmap before a patch is ready.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548640" y="2514600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8"/>
          <p:cNvSpPr/>
          <p:nvPr/>
        </p:nvSpPr>
        <p:spPr>
          <a:xfrm>
            <a:off x="640080" y="251460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Utilitarianism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3611880" y="2514600"/>
            <a:ext cx="800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Weigh total harm of exploitation vs. total harm of delayed disclosure across all users.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548640" y="3227832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640080" y="3227832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Deontology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3611880" y="3227832"/>
            <a:ext cx="800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Ask whether there's a duty to inform affected users, independent of the immediate outcome.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548640" y="3941064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8"/>
          <p:cNvSpPr/>
          <p:nvPr/>
        </p:nvSpPr>
        <p:spPr>
          <a:xfrm>
            <a:off x="640080" y="3941064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Virtue Ethics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/>
          <p:nvPr/>
        </p:nvSpPr>
        <p:spPr>
          <a:xfrm>
            <a:off x="3611880" y="3941064"/>
            <a:ext cx="800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Ask what a professional of integrity and prudence would do in this exact position.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548640" y="4654296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8"/>
          <p:cNvSpPr/>
          <p:nvPr/>
        </p:nvSpPr>
        <p:spPr>
          <a:xfrm>
            <a:off x="640080" y="4654296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Rights-Based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3611880" y="4654296"/>
            <a:ext cx="800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Ask whether users have a right to know about risks to their own data or systems.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548640" y="5367528"/>
            <a:ext cx="2834640" cy="621792"/>
          </a:xfrm>
          <a:prstGeom prst="roundRect">
            <a:avLst>
              <a:gd fmla="val 8824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/>
          <p:nvPr/>
        </p:nvSpPr>
        <p:spPr>
          <a:xfrm>
            <a:off x="640080" y="5367528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Social Contract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3611880" y="5367528"/>
            <a:ext cx="80010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Ask what the implicit agreement with users and the security community actually promises.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9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iefcase_00B4D8.png" id="365" name="Google Shape;3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9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Professional Responsibility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9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Duties that extend well beyond ‘don’t break the law’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PROFESSIONAL RESPONSIBILITY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Four Duties, Sometimes in Tension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548640" y="1828800"/>
            <a:ext cx="53949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43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868680" y="2212848"/>
            <a:ext cx="731520" cy="73152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lobe_00B4D8.png" id="379" name="Google Shape;3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4245" y="238841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0"/>
          <p:cNvSpPr/>
          <p:nvPr/>
        </p:nvSpPr>
        <p:spPr>
          <a:xfrm>
            <a:off x="1783080" y="199339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Duty to the Public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1783080" y="2395728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The broadest duty, and the one most codes open with — “contribute to society and human well-being.”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6492240" y="1828800"/>
            <a:ext cx="53949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43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6812280" y="2212848"/>
            <a:ext cx="731520" cy="73152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iefcase_00B4D8.png" id="384" name="Google Shape;3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7845" y="238841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0"/>
          <p:cNvSpPr/>
          <p:nvPr/>
        </p:nvSpPr>
        <p:spPr>
          <a:xfrm>
            <a:off x="7726680" y="199339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Duty to Employers &amp; Clients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7726680" y="2395728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Competence, honesty, confidentiality, and avoiding conflicts of interest.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548640" y="3566160"/>
            <a:ext cx="53949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43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868680" y="3950208"/>
            <a:ext cx="731520" cy="73152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shield_00B4D8.png" id="389" name="Google Shape;3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4245" y="41257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0"/>
          <p:cNvSpPr/>
          <p:nvPr/>
        </p:nvSpPr>
        <p:spPr>
          <a:xfrm>
            <a:off x="1783080" y="373075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Duty to the Profession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1783080" y="4133088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Maintaining the credibility of the field as a whole — why credentialing bodies revoke certifications for violations.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6492240" y="3566160"/>
            <a:ext cx="5394960" cy="150876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5400000" dist="25400">
              <a:srgbClr val="1B243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0"/>
          <p:cNvSpPr/>
          <p:nvPr/>
        </p:nvSpPr>
        <p:spPr>
          <a:xfrm>
            <a:off x="6812280" y="3950208"/>
            <a:ext cx="731520" cy="731520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_00B4D8.png" id="394" name="Google Shape;3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87845" y="4125773"/>
            <a:ext cx="380390" cy="38039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0"/>
          <p:cNvSpPr/>
          <p:nvPr/>
        </p:nvSpPr>
        <p:spPr>
          <a:xfrm>
            <a:off x="7726680" y="3730752"/>
            <a:ext cx="3977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Duty to Colleagues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7726680" y="4133088"/>
            <a:ext cx="3977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Fair treatment, honest collaboration, and mentorship within teams.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PROFESSIONAL RESPONSIBILITY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When Duties Collide: Whistleblowing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fmla="val 8696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891540" y="1869948"/>
            <a:ext cx="685800" cy="685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ook_00B4D8.png" id="408" name="Google Shape;40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32" y="2034540"/>
            <a:ext cx="356616" cy="356616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1"/>
          <p:cNvSpPr/>
          <p:nvPr/>
        </p:nvSpPr>
        <p:spPr>
          <a:xfrm>
            <a:off x="1737360" y="1783080"/>
            <a:ext cx="9692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ACM Code of Ethics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Whistleblowing is where duties most directly conflict: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548640" y="3474720"/>
            <a:ext cx="534924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1"/>
          <p:cNvSpPr/>
          <p:nvPr/>
        </p:nvSpPr>
        <p:spPr>
          <a:xfrm>
            <a:off x="868680" y="36576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Duty to Employer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868680" y="4041648"/>
            <a:ext cx="4754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Confidentiality, loyalty, and the terms of employment pull toward staying silent.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6263640" y="3474720"/>
            <a:ext cx="5349240" cy="192024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6583680" y="36576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Duty to the Public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6583680" y="4041648"/>
            <a:ext cx="475488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Most professional codes hold that this takes precedence — but rarely without legal risk, retaliation, or uncertainty about the severity of harm.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2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0B4D8.png" id="426" name="Google Shape;42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2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Legal, Ethical, Policy &amp; Organizational Requirements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The conceptual core of the course — four kinds of obligation, easily conflated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DISTINGUISHING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Four Categories of Obligation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548640" y="1783080"/>
            <a:ext cx="1554480" cy="502920"/>
          </a:xfrm>
          <a:prstGeom prst="rect">
            <a:avLst/>
          </a:prstGeom>
          <a:solidFill>
            <a:srgbClr val="0B1F3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640080" y="178308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Category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2103120" y="1783080"/>
            <a:ext cx="3017520" cy="502920"/>
          </a:xfrm>
          <a:prstGeom prst="rect">
            <a:avLst/>
          </a:prstGeom>
          <a:solidFill>
            <a:srgbClr val="0B1F3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"/>
          <p:cNvSpPr/>
          <p:nvPr/>
        </p:nvSpPr>
        <p:spPr>
          <a:xfrm>
            <a:off x="2194560" y="178308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 of Authority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3"/>
          <p:cNvSpPr/>
          <p:nvPr/>
        </p:nvSpPr>
        <p:spPr>
          <a:xfrm>
            <a:off x="5120640" y="1783080"/>
            <a:ext cx="3108960" cy="502920"/>
          </a:xfrm>
          <a:prstGeom prst="rect">
            <a:avLst/>
          </a:prstGeom>
          <a:solidFill>
            <a:srgbClr val="0B1F3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5212080" y="17830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Enforcement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8229600" y="1783080"/>
            <a:ext cx="3383280" cy="502920"/>
          </a:xfrm>
          <a:prstGeom prst="rect">
            <a:avLst/>
          </a:prstGeom>
          <a:solidFill>
            <a:srgbClr val="0B1F3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3"/>
          <p:cNvSpPr/>
          <p:nvPr/>
        </p:nvSpPr>
        <p:spPr>
          <a:xfrm>
            <a:off x="8321040" y="178308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3"/>
          <p:cNvSpPr/>
          <p:nvPr/>
        </p:nvSpPr>
        <p:spPr>
          <a:xfrm>
            <a:off x="548640" y="2286000"/>
            <a:ext cx="15544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640080" y="228600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Legal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2103120" y="2286000"/>
            <a:ext cx="301752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3"/>
          <p:cNvSpPr/>
          <p:nvPr/>
        </p:nvSpPr>
        <p:spPr>
          <a:xfrm>
            <a:off x="2194560" y="2286000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Government (statute, regulation, case law)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120640" y="2286000"/>
            <a:ext cx="310896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5212080" y="228600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Courts, fines, criminal penalties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8229600" y="2286000"/>
            <a:ext cx="3383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3"/>
          <p:cNvSpPr/>
          <p:nvPr/>
        </p:nvSpPr>
        <p:spPr>
          <a:xfrm>
            <a:off x="8321040" y="228600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HIPAA requires breach notification within a set window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/>
          <p:nvPr/>
        </p:nvSpPr>
        <p:spPr>
          <a:xfrm>
            <a:off x="548640" y="3154680"/>
            <a:ext cx="155448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640080" y="315468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Ethical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2103120" y="3154680"/>
            <a:ext cx="301752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3"/>
          <p:cNvSpPr/>
          <p:nvPr/>
        </p:nvSpPr>
        <p:spPr>
          <a:xfrm>
            <a:off x="2194560" y="3154680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Moral reasoning, professional norms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5120640" y="3154680"/>
            <a:ext cx="310896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3"/>
          <p:cNvSpPr/>
          <p:nvPr/>
        </p:nvSpPr>
        <p:spPr>
          <a:xfrm>
            <a:off x="5212080" y="315468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Conscience, professional community, reputation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8229600" y="3154680"/>
            <a:ext cx="338328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3"/>
          <p:cNvSpPr/>
          <p:nvPr/>
        </p:nvSpPr>
        <p:spPr>
          <a:xfrm>
            <a:off x="8321040" y="315468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Disclosing a flaw to users even when not legally required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548640" y="4023360"/>
            <a:ext cx="15544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3"/>
          <p:cNvSpPr/>
          <p:nvPr/>
        </p:nvSpPr>
        <p:spPr>
          <a:xfrm>
            <a:off x="640080" y="402336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3"/>
          <p:cNvSpPr/>
          <p:nvPr/>
        </p:nvSpPr>
        <p:spPr>
          <a:xfrm>
            <a:off x="2103120" y="4023360"/>
            <a:ext cx="301752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"/>
          <p:cNvSpPr/>
          <p:nvPr/>
        </p:nvSpPr>
        <p:spPr>
          <a:xfrm>
            <a:off x="2194560" y="4023360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An organization's internal rules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3"/>
          <p:cNvSpPr/>
          <p:nvPr/>
        </p:nvSpPr>
        <p:spPr>
          <a:xfrm>
            <a:off x="5120640" y="4023360"/>
            <a:ext cx="310896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5212080" y="402336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HR action, termination, internal discipline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3"/>
          <p:cNvSpPr/>
          <p:nvPr/>
        </p:nvSpPr>
        <p:spPr>
          <a:xfrm>
            <a:off x="8229600" y="4023360"/>
            <a:ext cx="338328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3"/>
          <p:cNvSpPr/>
          <p:nvPr/>
        </p:nvSpPr>
        <p:spPr>
          <a:xfrm>
            <a:off x="8321040" y="402336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 company ban on personal USB drives on work machines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3"/>
          <p:cNvSpPr/>
          <p:nvPr/>
        </p:nvSpPr>
        <p:spPr>
          <a:xfrm>
            <a:off x="548640" y="4892040"/>
            <a:ext cx="155448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3"/>
          <p:cNvSpPr/>
          <p:nvPr/>
        </p:nvSpPr>
        <p:spPr>
          <a:xfrm>
            <a:off x="640080" y="4892040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Best Practice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3"/>
          <p:cNvSpPr/>
          <p:nvPr/>
        </p:nvSpPr>
        <p:spPr>
          <a:xfrm>
            <a:off x="2103120" y="4892040"/>
            <a:ext cx="301752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2194560" y="4892040"/>
            <a:ext cx="28346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Industry consensus, standards bodies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/>
          <p:nvPr/>
        </p:nvSpPr>
        <p:spPr>
          <a:xfrm>
            <a:off x="5120640" y="4892040"/>
            <a:ext cx="310896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3"/>
          <p:cNvSpPr/>
          <p:nvPr/>
        </p:nvSpPr>
        <p:spPr>
          <a:xfrm>
            <a:off x="5212080" y="489204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Certification, market pressure, insurance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3"/>
          <p:cNvSpPr/>
          <p:nvPr/>
        </p:nvSpPr>
        <p:spPr>
          <a:xfrm>
            <a:off x="8229600" y="4892040"/>
            <a:ext cx="3383280" cy="868680"/>
          </a:xfrm>
          <a:prstGeom prst="rect">
            <a:avLst/>
          </a:prstGeom>
          <a:solidFill>
            <a:srgbClr val="E9EEF5"/>
          </a:solidFill>
          <a:ln cap="flat" cmpd="sng" w="9525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3"/>
          <p:cNvSpPr/>
          <p:nvPr/>
        </p:nvSpPr>
        <p:spPr>
          <a:xfrm>
            <a:off x="8321040" y="489204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Following NIST or ISO 27001 where not legally mandated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DISTINGUISHING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The Space Between Categories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4"/>
          <p:cNvSpPr/>
          <p:nvPr/>
        </p:nvSpPr>
        <p:spPr>
          <a:xfrm>
            <a:off x="548640" y="173736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4"/>
          <p:cNvSpPr/>
          <p:nvPr/>
        </p:nvSpPr>
        <p:spPr>
          <a:xfrm>
            <a:off x="868680" y="19202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Legal, but Unethical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868680" y="2359152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 company may legally sell user data under a technically-compliant privacy policy that almost no user actually read or understood.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6263640" y="173736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6583680" y="19202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Illegal, but Arguably Ethical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6583680" y="2359152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Some historical cases of researchers publicly disclosing vulnerabilities against a company's wishes, prioritizing public safety over compliance.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4"/>
          <p:cNvSpPr/>
          <p:nvPr/>
        </p:nvSpPr>
        <p:spPr>
          <a:xfrm>
            <a:off x="868680" y="39776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Against Policy, but Ethical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868680" y="4416552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An employee reporting a colleague's misconduct through a channel that technically violates a confidentiality policy.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6263640" y="379476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4"/>
          <p:cNvSpPr/>
          <p:nvPr/>
        </p:nvSpPr>
        <p:spPr>
          <a:xfrm>
            <a:off x="6583680" y="397764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Compliant, but Questionable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6583680" y="4416552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Using dark patterns in UI design that are technically disclosed in the terms of service but built to obscure real user choice.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5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5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amera_00B4D8.png" id="508" name="Google Shape;50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25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Case Study: Flock Cameras &amp; Rising Surveillance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5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A live, unresolved controversy — and a perfect test of everything covered so far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6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CASE STUDY — FLOCK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6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What Is Flock Safety?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6"/>
          <p:cNvSpPr/>
          <p:nvPr/>
        </p:nvSpPr>
        <p:spPr>
          <a:xfrm>
            <a:off x="649224" y="183794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amera_00B4D8.png" id="521" name="Google Shape;5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54" y="198717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26"/>
          <p:cNvSpPr/>
          <p:nvPr/>
        </p:nvSpPr>
        <p:spPr>
          <a:xfrm>
            <a:off x="1417320" y="180136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AI-enabled license plate readers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6"/>
          <p:cNvSpPr/>
          <p:nvPr/>
        </p:nvSpPr>
        <p:spPr>
          <a:xfrm>
            <a:off x="1417320" y="213055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Cameras that scan and log every vehicle that passes — plate number, make, model, color, and even bumper stickers and scratches — cataloged automatically by AI.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6"/>
          <p:cNvSpPr/>
          <p:nvPr/>
        </p:nvSpPr>
        <p:spPr>
          <a:xfrm>
            <a:off x="649224" y="316382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appin_00B4D8.png" id="525" name="Google Shape;52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54" y="331305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26"/>
          <p:cNvSpPr/>
          <p:nvPr/>
        </p:nvSpPr>
        <p:spPr>
          <a:xfrm>
            <a:off x="1417320" y="312724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 nationwide, interconnected network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6"/>
          <p:cNvSpPr/>
          <p:nvPr/>
        </p:nvSpPr>
        <p:spPr>
          <a:xfrm>
            <a:off x="1417320" y="345643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Over 6,000 customer communities across nearly every U.S. state, with roughly 80,000+ cameras feeding into shared, searchable databases.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6"/>
          <p:cNvSpPr/>
          <p:nvPr/>
        </p:nvSpPr>
        <p:spPr>
          <a:xfrm>
            <a:off x="649224" y="448970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briefcase_00B4D8.png" id="529" name="Google Shape;52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54" y="463893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26"/>
          <p:cNvSpPr/>
          <p:nvPr/>
        </p:nvSpPr>
        <p:spPr>
          <a:xfrm>
            <a:off x="1417320" y="445312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Sold as a public-safety tool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6"/>
          <p:cNvSpPr/>
          <p:nvPr/>
        </p:nvSpPr>
        <p:spPr>
          <a:xfrm>
            <a:off x="1417320" y="478231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Marketed to local governments as a force multiplier for law enforcement — recovering stolen vehicles, solving crimes, locating missing people.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 — Sources: CNN, TechCrunch, ACLU (2026)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7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THE CASE FOR 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What Supporters Point To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7"/>
          <p:cNvSpPr/>
          <p:nvPr/>
        </p:nvSpPr>
        <p:spPr>
          <a:xfrm>
            <a:off x="630936" y="1828800"/>
            <a:ext cx="3429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630936" y="22860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0B4D8"/>
                </a:solidFill>
                <a:latin typeface="Cambria"/>
                <a:ea typeface="Cambria"/>
                <a:cs typeface="Cambria"/>
                <a:sym typeface="Cambria"/>
              </a:rPr>
              <a:t>~10%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7"/>
          <p:cNvSpPr/>
          <p:nvPr/>
        </p:nvSpPr>
        <p:spPr>
          <a:xfrm>
            <a:off x="905256" y="32918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of reported U.S. crime, Flock claims, is solved in part using its technology (a figure critics — including Flock's own researchers — have disputed).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4379976" y="1828800"/>
            <a:ext cx="3429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7"/>
          <p:cNvSpPr/>
          <p:nvPr/>
        </p:nvSpPr>
        <p:spPr>
          <a:xfrm>
            <a:off x="4379976" y="22860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0B4D8"/>
                </a:solidFill>
                <a:latin typeface="Cambria"/>
                <a:ea typeface="Cambria"/>
                <a:cs typeface="Cambria"/>
                <a:sym typeface="Cambria"/>
              </a:rPr>
              <a:t>250+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4654296" y="32918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stolen vehicles recovered at least in part through Flock's system in Denver alone, along with evidence in nine homicide arrests.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7"/>
          <p:cNvSpPr/>
          <p:nvPr/>
        </p:nvSpPr>
        <p:spPr>
          <a:xfrm>
            <a:off x="8129016" y="1828800"/>
            <a:ext cx="3429000" cy="32004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1B243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8129016" y="2286000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00B4D8"/>
                </a:solidFill>
                <a:latin typeface="Cambria"/>
                <a:ea typeface="Cambria"/>
                <a:cs typeface="Cambria"/>
                <a:sym typeface="Cambria"/>
              </a:rPr>
              <a:t>6,000+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7"/>
          <p:cNvSpPr/>
          <p:nvPr/>
        </p:nvSpPr>
        <p:spPr>
          <a:xfrm>
            <a:off x="8403336" y="3291840"/>
            <a:ext cx="28803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communities under contract nationwide — evidence the product remains popular with many local governments and police departments.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Sources: TechCrunch, Yahoo News / Denver town hall reporting (2026)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8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CASE STUDY — FLOCK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What Critics Point 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8"/>
          <p:cNvSpPr/>
          <p:nvPr/>
        </p:nvSpPr>
        <p:spPr>
          <a:xfrm>
            <a:off x="649224" y="1837944"/>
            <a:ext cx="621792" cy="621792"/>
          </a:xfrm>
          <a:prstGeom prst="ellipse">
            <a:avLst/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eye_E63946.png" id="560" name="Google Shape;56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54" y="198717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28"/>
          <p:cNvSpPr/>
          <p:nvPr/>
        </p:nvSpPr>
        <p:spPr>
          <a:xfrm>
            <a:off x="1417320" y="180136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Warrantless mass tracking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8"/>
          <p:cNvSpPr/>
          <p:nvPr/>
        </p:nvSpPr>
        <p:spPr>
          <a:xfrm>
            <a:off x="1417320" y="213055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Civil rights advocates argue the system violates the Fourth Amendment's prohibition on unreasonable searches — a federal judge has called it “an unsettled area of law.”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8"/>
          <p:cNvSpPr/>
          <p:nvPr/>
        </p:nvSpPr>
        <p:spPr>
          <a:xfrm>
            <a:off x="649224" y="3163824"/>
            <a:ext cx="621792" cy="621792"/>
          </a:xfrm>
          <a:prstGeom prst="ellipse">
            <a:avLst/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alert_E63946.png" id="564" name="Google Shape;56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54" y="331305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28"/>
          <p:cNvSpPr/>
          <p:nvPr/>
        </p:nvSpPr>
        <p:spPr>
          <a:xfrm>
            <a:off x="1417320" y="312724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Accuracy failures with real consequences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1417320" y="345643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 New Mexico, misread plates led police to hold innocent drivers at gunpoint. An Ohio man was wrongly identified as a human trafficking suspect in a since-dismissed lawsuit.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649224" y="4489704"/>
            <a:ext cx="621792" cy="621792"/>
          </a:xfrm>
          <a:prstGeom prst="ellipse">
            <a:avLst/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xcircle_E63946.png" id="568" name="Google Shape;56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54" y="463893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28"/>
          <p:cNvSpPr/>
          <p:nvPr/>
        </p:nvSpPr>
        <p:spPr>
          <a:xfrm>
            <a:off x="1417320" y="445312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Mission creep beyond ‘crime-fighting’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1417320" y="478231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Reporting has tied the shared national database to immigration enforcement use — far outside the original stolen-vehicle-and-violent-crime pitch made to city councils.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 — Sources: ACLU, PBS NewsHour, TechCrunch (2026)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9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CASE STUDY — FLOCK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9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The Backlash Is Escalating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640080" y="1828800"/>
            <a:ext cx="1088136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868680" y="2048256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9"/>
          <p:cNvSpPr/>
          <p:nvPr/>
        </p:nvSpPr>
        <p:spPr>
          <a:xfrm>
            <a:off x="868680" y="204825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9"/>
          <p:cNvSpPr/>
          <p:nvPr/>
        </p:nvSpPr>
        <p:spPr>
          <a:xfrm>
            <a:off x="1508760" y="1938528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Property damage &amp; protest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9"/>
          <p:cNvSpPr/>
          <p:nvPr/>
        </p:nvSpPr>
        <p:spPr>
          <a:xfrm>
            <a:off x="1508760" y="228600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Cameras cut down with saws in upstate New York, doused in paint in Oakland, and rammed by a truck in Idaho; one Florida resident blocks a camera with a cardboard sign on a lawn chair.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9"/>
          <p:cNvSpPr/>
          <p:nvPr/>
        </p:nvSpPr>
        <p:spPr>
          <a:xfrm>
            <a:off x="640080" y="3108960"/>
            <a:ext cx="1088136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868680" y="3328416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9"/>
          <p:cNvSpPr/>
          <p:nvPr/>
        </p:nvSpPr>
        <p:spPr>
          <a:xfrm>
            <a:off x="868680" y="332841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9"/>
          <p:cNvSpPr/>
          <p:nvPr/>
        </p:nvSpPr>
        <p:spPr>
          <a:xfrm>
            <a:off x="1508760" y="3218688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Local governments pulling 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1508760" y="356616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Santa Cruz, Mountain View, El Cerrito, and Chandler have ended or declined to renew Flock contracts in 2026 after sustained community organizing.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9"/>
          <p:cNvSpPr/>
          <p:nvPr/>
        </p:nvSpPr>
        <p:spPr>
          <a:xfrm>
            <a:off x="640080" y="4389120"/>
            <a:ext cx="10881360" cy="1143000"/>
          </a:xfrm>
          <a:prstGeom prst="roundRect">
            <a:avLst>
              <a:gd fmla="val 6400" name="adj"/>
            </a:avLst>
          </a:prstGeom>
          <a:solidFill>
            <a:srgbClr val="FFFFFF"/>
          </a:solidFill>
          <a:ln cap="flat" cmpd="sng" w="1270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9"/>
          <p:cNvSpPr/>
          <p:nvPr/>
        </p:nvSpPr>
        <p:spPr>
          <a:xfrm>
            <a:off x="868680" y="4608576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9"/>
          <p:cNvSpPr/>
          <p:nvPr/>
        </p:nvSpPr>
        <p:spPr>
          <a:xfrm>
            <a:off x="868680" y="460857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9"/>
          <p:cNvSpPr/>
          <p:nvPr/>
        </p:nvSpPr>
        <p:spPr>
          <a:xfrm>
            <a:off x="1508760" y="4498848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Company countermeasures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9"/>
          <p:cNvSpPr/>
          <p:nvPr/>
        </p:nvSpPr>
        <p:spPr>
          <a:xfrm>
            <a:off x="1508760" y="4846320"/>
            <a:ext cx="9784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In August 2026, Flock announced new guardrails — mandatory case-number labeling for searches, automatic abuse review, and a default data-retention window cut from 30 days to 7.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 — Sources: CNN, ACLU, ABC News (2026)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CASE STUDY — FLOCK SAFETY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Running Flock Through Today's Framework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822960" y="173736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Legal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0"/>
          <p:cNvSpPr/>
          <p:nvPr/>
        </p:nvSpPr>
        <p:spPr>
          <a:xfrm>
            <a:off x="3474720" y="1737360"/>
            <a:ext cx="7955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Fourth Amendment status is unresolved and actively being litigated — a genuine gray zone, not settled law.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0"/>
          <p:cNvSpPr/>
          <p:nvPr/>
        </p:nvSpPr>
        <p:spPr>
          <a:xfrm>
            <a:off x="548640" y="278892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0"/>
          <p:cNvSpPr/>
          <p:nvPr/>
        </p:nvSpPr>
        <p:spPr>
          <a:xfrm>
            <a:off x="822960" y="278892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Ethical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0"/>
          <p:cNvSpPr/>
          <p:nvPr/>
        </p:nvSpPr>
        <p:spPr>
          <a:xfrm>
            <a:off x="3474720" y="2788920"/>
            <a:ext cx="7955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Apply utilitarian (public safety benefit) vs. rights-based (privacy as a claim that shouldn't be traded away) reasoning — they point in different directions.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0"/>
          <p:cNvSpPr/>
          <p:nvPr/>
        </p:nvSpPr>
        <p:spPr>
          <a:xfrm>
            <a:off x="548640" y="384048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822960" y="384048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Policy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0"/>
          <p:cNvSpPr/>
          <p:nvPr/>
        </p:nvSpPr>
        <p:spPr>
          <a:xfrm>
            <a:off x="3474720" y="3840480"/>
            <a:ext cx="7955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Cities set their own retention, sharing, and immigration-search policies — which is exactly why some communities kept Flock and others didn't.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0"/>
          <p:cNvSpPr/>
          <p:nvPr/>
        </p:nvSpPr>
        <p:spPr>
          <a:xfrm>
            <a:off x="548640" y="4892040"/>
            <a:ext cx="11064240" cy="960120"/>
          </a:xfrm>
          <a:prstGeom prst="roundRect">
            <a:avLst>
              <a:gd fmla="val 7619" name="adj"/>
            </a:avLst>
          </a:prstGeom>
          <a:solidFill>
            <a:srgbClr val="FCE7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0"/>
          <p:cNvSpPr/>
          <p:nvPr/>
        </p:nvSpPr>
        <p:spPr>
          <a:xfrm>
            <a:off x="822960" y="4892040"/>
            <a:ext cx="25603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1F3A"/>
                </a:solidFill>
                <a:latin typeface="Calibri"/>
                <a:ea typeface="Calibri"/>
                <a:cs typeface="Calibri"/>
                <a:sym typeface="Calibri"/>
              </a:rPr>
              <a:t>Professional Responsibility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0"/>
          <p:cNvSpPr/>
          <p:nvPr/>
        </p:nvSpPr>
        <p:spPr>
          <a:xfrm>
            <a:off x="3474720" y="4892040"/>
            <a:ext cx="79552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Security and civic-tech professionals who build or deploy this technology hold real duties to the public whose movements are being logged without their knowledge.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0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1"/>
          <p:cNvSpPr/>
          <p:nvPr/>
        </p:nvSpPr>
        <p:spPr>
          <a:xfrm>
            <a:off x="548640" y="50292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CLASS DISCUSSION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1"/>
          <p:cNvSpPr/>
          <p:nvPr/>
        </p:nvSpPr>
        <p:spPr>
          <a:xfrm>
            <a:off x="548640" y="8686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Discuss Before We Move to the Activity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640080" y="1801368"/>
            <a:ext cx="548640" cy="54864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626" name="Google Shape;6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4" y="193304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31"/>
          <p:cNvSpPr/>
          <p:nvPr/>
        </p:nvSpPr>
        <p:spPr>
          <a:xfrm>
            <a:off x="1417320" y="178308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Should a technology's legal status (“unsettled”) change how comfortable your city should be deploying it?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1"/>
          <p:cNvSpPr/>
          <p:nvPr/>
        </p:nvSpPr>
        <p:spPr>
          <a:xfrm>
            <a:off x="640080" y="2807208"/>
            <a:ext cx="548640" cy="54864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629" name="Google Shape;6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4" y="293888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1"/>
          <p:cNvSpPr/>
          <p:nvPr/>
        </p:nvSpPr>
        <p:spPr>
          <a:xfrm>
            <a:off x="1417320" y="278892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Whose consent actually matters here — the city council that signs the contract, or the residents who are recorded without being asked?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1"/>
          <p:cNvSpPr/>
          <p:nvPr/>
        </p:nvSpPr>
        <p:spPr>
          <a:xfrm>
            <a:off x="640080" y="3813048"/>
            <a:ext cx="548640" cy="54864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632" name="Google Shape;6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4" y="394472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31"/>
          <p:cNvSpPr/>
          <p:nvPr/>
        </p:nvSpPr>
        <p:spPr>
          <a:xfrm>
            <a:off x="1417320" y="379476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Is “we'll add safeguards after the backlash” a responsible pattern for deploying surveillance technology, or a warning sign?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1"/>
          <p:cNvSpPr/>
          <p:nvPr/>
        </p:nvSpPr>
        <p:spPr>
          <a:xfrm>
            <a:off x="640080" y="4818888"/>
            <a:ext cx="548640" cy="54864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635" name="Google Shape;63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754" y="4950562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1"/>
          <p:cNvSpPr/>
          <p:nvPr/>
        </p:nvSpPr>
        <p:spPr>
          <a:xfrm>
            <a:off x="1417320" y="4800600"/>
            <a:ext cx="9875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If you worked for Flock, what professional duties would you feel toward the public whose data flows through your product?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1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2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2"/>
          <p:cNvSpPr/>
          <p:nvPr/>
        </p:nvSpPr>
        <p:spPr>
          <a:xfrm>
            <a:off x="777240" y="2377440"/>
            <a:ext cx="1554480" cy="155448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message_00B4D8.png" id="645" name="Google Shape;6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0315" y="2750515"/>
            <a:ext cx="808330" cy="80833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2"/>
          <p:cNvSpPr/>
          <p:nvPr/>
        </p:nvSpPr>
        <p:spPr>
          <a:xfrm>
            <a:off x="3566160" y="24688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2"/>
          <p:cNvSpPr/>
          <p:nvPr/>
        </p:nvSpPr>
        <p:spPr>
          <a:xfrm>
            <a:off x="3566160" y="2880360"/>
            <a:ext cx="78638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Group Activity: Case Study Analysis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2"/>
          <p:cNvSpPr/>
          <p:nvPr/>
        </p:nvSpPr>
        <p:spPr>
          <a:xfrm>
            <a:off x="3566160" y="4343400"/>
            <a:ext cx="7863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Apply everything from today to a realistic professional dilemma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3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Case Study Analysis — Instructions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3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3"/>
          <p:cNvSpPr/>
          <p:nvPr/>
        </p:nvSpPr>
        <p:spPr>
          <a:xfrm>
            <a:off x="822960" y="164592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Scenario: A security researcher discovers a serious vulnerability, reports it privately, gets no response for months, and is weighing public disclosure against the company's wishes.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3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3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3"/>
          <p:cNvSpPr/>
          <p:nvPr/>
        </p:nvSpPr>
        <p:spPr>
          <a:xfrm>
            <a:off x="1280160" y="26517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Legal analysis — what does the law require or prohibit? Where's the ambiguity?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3"/>
          <p:cNvSpPr/>
          <p:nvPr/>
        </p:nvSpPr>
        <p:spPr>
          <a:xfrm>
            <a:off x="640080" y="3273552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3"/>
          <p:cNvSpPr/>
          <p:nvPr/>
        </p:nvSpPr>
        <p:spPr>
          <a:xfrm>
            <a:off x="640080" y="32735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3"/>
          <p:cNvSpPr/>
          <p:nvPr/>
        </p:nvSpPr>
        <p:spPr>
          <a:xfrm>
            <a:off x="1280160" y="327355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Ethical analysis — apply at least two frameworks from today. Do they agree?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3"/>
          <p:cNvSpPr/>
          <p:nvPr/>
        </p:nvSpPr>
        <p:spPr>
          <a:xfrm>
            <a:off x="640080" y="3895344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3"/>
          <p:cNvSpPr/>
          <p:nvPr/>
        </p:nvSpPr>
        <p:spPr>
          <a:xfrm>
            <a:off x="640080" y="38953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1280160" y="3895344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Policy analysis — what organizational policy (NDA, disclosure policy) is in play?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/>
          <p:nvPr/>
        </p:nvSpPr>
        <p:spPr>
          <a:xfrm>
            <a:off x="640080" y="4517136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3"/>
          <p:cNvSpPr/>
          <p:nvPr/>
        </p:nvSpPr>
        <p:spPr>
          <a:xfrm>
            <a:off x="640080" y="45171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3"/>
          <p:cNvSpPr/>
          <p:nvPr/>
        </p:nvSpPr>
        <p:spPr>
          <a:xfrm>
            <a:off x="1280160" y="4517136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Professional responsibility — whose interests should take priority, and why?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3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33"/>
          <p:cNvSpPr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3"/>
          <p:cNvSpPr/>
          <p:nvPr/>
        </p:nvSpPr>
        <p:spPr>
          <a:xfrm>
            <a:off x="1280160" y="5138928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Recommendation — what should this person do? Name the strongest counterargument.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3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Groups of 3–4 · 35 minutes to analyze · 15 minutes to debrief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4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4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1F3A"/>
                </a:solidFill>
                <a:latin typeface="Cambria"/>
                <a:ea typeface="Cambria"/>
                <a:cs typeface="Cambria"/>
                <a:sym typeface="Cambria"/>
              </a:rPr>
              <a:t>Debrief — What We're Listening For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4"/>
          <p:cNvSpPr/>
          <p:nvPr/>
        </p:nvSpPr>
        <p:spPr>
          <a:xfrm>
            <a:off x="649224" y="192938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users_00B4D8.png" id="685" name="Google Shape;6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454" y="207861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4"/>
          <p:cNvSpPr/>
          <p:nvPr/>
        </p:nvSpPr>
        <p:spPr>
          <a:xfrm>
            <a:off x="1417320" y="189280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Disagreement is the point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4"/>
          <p:cNvSpPr/>
          <p:nvPr/>
        </p:nvSpPr>
        <p:spPr>
          <a:xfrm>
            <a:off x="1417320" y="222199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Ask groups with different recommendations to defend their reasoning to each other. Consensus isn't the goal — sound reasoning is.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4"/>
          <p:cNvSpPr/>
          <p:nvPr/>
        </p:nvSpPr>
        <p:spPr>
          <a:xfrm>
            <a:off x="649224" y="334670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circle_00B4D8.png" id="689" name="Google Shape;68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54" y="349593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34"/>
          <p:cNvSpPr/>
          <p:nvPr/>
        </p:nvSpPr>
        <p:spPr>
          <a:xfrm>
            <a:off x="1417320" y="331012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‘It depends’ is a legitimate answer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1417320" y="363931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When justified with real reasoning across all four categories, this is what professional judgment sounds like — not a dodge.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649224" y="4764024"/>
            <a:ext cx="621792" cy="621792"/>
          </a:xfrm>
          <a:prstGeom prst="ellipse">
            <a:avLst/>
          </a:prstGeom>
          <a:solidFill>
            <a:srgbClr val="E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ompass_00B4D8.png" id="693" name="Google Shape;69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54" y="4913254"/>
            <a:ext cx="323332" cy="323332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34"/>
          <p:cNvSpPr/>
          <p:nvPr/>
        </p:nvSpPr>
        <p:spPr>
          <a:xfrm>
            <a:off x="1417320" y="472744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20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6202E"/>
                </a:solidFill>
                <a:latin typeface="Calibri"/>
                <a:ea typeface="Calibri"/>
                <a:cs typeface="Calibri"/>
                <a:sym typeface="Calibri"/>
              </a:rPr>
              <a:t>Setting up next week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4"/>
          <p:cNvSpPr/>
          <p:nvPr/>
        </p:nvSpPr>
        <p:spPr>
          <a:xfrm>
            <a:off x="1417320" y="5056632"/>
            <a:ext cx="10104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This activity previews a deeper dive into the legal framework, now that ethical reasoning has been established as the throughline for the course.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Cyber Ethics and Law — Week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2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5"/>
          <p:cNvSpPr/>
          <p:nvPr/>
        </p:nvSpPr>
        <p:spPr>
          <a:xfrm>
            <a:off x="548640" y="54864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5"/>
          <p:cNvSpPr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to Carry Into Every Case From Here On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5"/>
          <p:cNvSpPr/>
          <p:nvPr/>
        </p:nvSpPr>
        <p:spPr>
          <a:xfrm>
            <a:off x="708660" y="1879092"/>
            <a:ext cx="502920" cy="50292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circle_00B4D8.png" id="706" name="Google Shape;70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61" y="1999793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35"/>
          <p:cNvSpPr/>
          <p:nvPr/>
        </p:nvSpPr>
        <p:spPr>
          <a:xfrm>
            <a:off x="1417320" y="1874520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Law is the floor. Ethics frequently asks for more than the floor requires.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5"/>
          <p:cNvSpPr/>
          <p:nvPr/>
        </p:nvSpPr>
        <p:spPr>
          <a:xfrm>
            <a:off x="708660" y="2720340"/>
            <a:ext cx="502920" cy="50292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circle_00B4D8.png" id="709" name="Google Shape;70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61" y="2841041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35"/>
          <p:cNvSpPr/>
          <p:nvPr/>
        </p:nvSpPr>
        <p:spPr>
          <a:xfrm>
            <a:off x="1417320" y="2715768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No single ethical framework has the final word — strong reasoning uses several.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5"/>
          <p:cNvSpPr/>
          <p:nvPr/>
        </p:nvSpPr>
        <p:spPr>
          <a:xfrm>
            <a:off x="708660" y="3561588"/>
            <a:ext cx="502920" cy="50292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circle_00B4D8.png" id="712" name="Google Shape;7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61" y="3682289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5"/>
          <p:cNvSpPr/>
          <p:nvPr/>
        </p:nvSpPr>
        <p:spPr>
          <a:xfrm>
            <a:off x="1417320" y="3557016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Professional responsibility means duties to the public, not just to your employer.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5"/>
          <p:cNvSpPr/>
          <p:nvPr/>
        </p:nvSpPr>
        <p:spPr>
          <a:xfrm>
            <a:off x="708660" y="4402836"/>
            <a:ext cx="502920" cy="50292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circle_00B4D8.png" id="715" name="Google Shape;7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61" y="4523537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35"/>
          <p:cNvSpPr/>
          <p:nvPr/>
        </p:nvSpPr>
        <p:spPr>
          <a:xfrm>
            <a:off x="1417320" y="4398264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Legal, ethical, policy, and best-practice obligations are four different things — learn to name which one you're actually arguing about.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5"/>
          <p:cNvSpPr/>
          <p:nvPr/>
        </p:nvSpPr>
        <p:spPr>
          <a:xfrm>
            <a:off x="708660" y="5244084"/>
            <a:ext cx="502920" cy="50292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checkcircle_00B4D8.png" id="718" name="Google Shape;71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9361" y="5364785"/>
            <a:ext cx="261518" cy="261518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35"/>
          <p:cNvSpPr/>
          <p:nvPr/>
        </p:nvSpPr>
        <p:spPr>
          <a:xfrm>
            <a:off x="1417320" y="5239512"/>
            <a:ext cx="9875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BF5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4EBF5"/>
                </a:solidFill>
                <a:latin typeface="Calibri"/>
                <a:ea typeface="Calibri"/>
                <a:cs typeface="Calibri"/>
                <a:sym typeface="Calibri"/>
              </a:rPr>
              <a:t>Flock Safety shows all four categories in live tension, with no settled answer yet — which is exactly the kind of case this course exists to prepare you for.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36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6"/>
          <p:cNvSpPr/>
          <p:nvPr/>
        </p:nvSpPr>
        <p:spPr>
          <a:xfrm>
            <a:off x="9555480" y="2743200"/>
            <a:ext cx="1371600" cy="1371600"/>
          </a:xfrm>
          <a:prstGeom prst="ellipse">
            <a:avLst/>
          </a:prstGeom>
          <a:solidFill>
            <a:srgbClr val="0B1F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deck/icons/gavel_00B4D8.png" id="728" name="Google Shape;7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84664" y="3072384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36"/>
          <p:cNvSpPr/>
          <p:nvPr/>
        </p:nvSpPr>
        <p:spPr>
          <a:xfrm>
            <a:off x="822960" y="21031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NEXT WEEK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6"/>
          <p:cNvSpPr/>
          <p:nvPr/>
        </p:nvSpPr>
        <p:spPr>
          <a:xfrm>
            <a:off x="822960" y="2560320"/>
            <a:ext cx="6949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Legal Framework in Depth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6"/>
          <p:cNvSpPr/>
          <p:nvPr/>
        </p:nvSpPr>
        <p:spPr>
          <a:xfrm>
            <a:off x="822960" y="365760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4E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7D4E6"/>
                </a:solidFill>
                <a:latin typeface="Calibri"/>
                <a:ea typeface="Calibri"/>
                <a:cs typeface="Calibri"/>
                <a:sym typeface="Calibri"/>
              </a:rPr>
              <a:t>Bring your case study write-up — we'll revisit it once we've added statutory detail to the legal analysis you did today.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B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FA3BF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2026-08-17T00:54:43Z</dcterms:created>
  <dc:creator>PptxGenJS</dc:creator>
</cp:coreProperties>
</file>