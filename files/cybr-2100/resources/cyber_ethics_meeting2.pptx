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iRfeX0FC4CX+fh/QuVO5BXvHCr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with a brief discussion: "What makes cybersecurity different from other IT roles ethically?" Get students thinking about power and trust.</a:t>
            </a:r>
            <a:endParaRPr/>
          </a:p>
        </p:txBody>
      </p:sp>
      <p:sp>
        <p:nvSpPr>
          <p:cNvPr id="55" name="Google Shape;5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students 5-7 minutes to discuss in pairs, then debrief as a class. Key takeaway: professional codes don't just guide us when it's easy — they guide us when authority figures pressure us.</a:t>
            </a:r>
            <a:endParaRPr/>
          </a:p>
        </p:txBody>
      </p:sp>
      <p:sp>
        <p:nvSpPr>
          <p:cNvPr id="87" name="Google Shape;8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stakeholder analysis framework that students will apply to the case study.</a:t>
            </a:r>
            <a:endParaRPr/>
          </a:p>
        </p:txBody>
      </p:sp>
      <p:sp>
        <p:nvSpPr>
          <p:cNvPr id="99" name="Google Shape;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stakeholder. Ask students which stakeholders the AI system "sees" and which it does not.</a:t>
            </a:r>
            <a:endParaRPr/>
          </a:p>
        </p:txBody>
      </p:sp>
      <p:sp>
        <p:nvSpPr>
          <p:cNvPr id="107" name="Google Shape;1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Pause here. Give students 2 minutes to read silently and form initial impressions. Then ask: "Is this person an insider threat?"</a:t>
            </a:r>
            <a:endParaRPr/>
          </a:p>
        </p:txBody>
      </p:sp>
      <p:sp>
        <p:nvSpPr>
          <p:cNvPr id="158" name="Google Shape;15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how UEBA (User and Entity Behavior Analytics) systems work in practice. Students need this to understand why false positives happen.</a:t>
            </a:r>
            <a:endParaRPr/>
          </a:p>
        </p:txBody>
      </p:sp>
      <p:sp>
        <p:nvSpPr>
          <p:cNvPr id="196" name="Google Shape;1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Contrast with false negative costs. Neither error is "free."</a:t>
            </a:r>
            <a:endParaRPr/>
          </a:p>
        </p:txBody>
      </p:sp>
      <p:sp>
        <p:nvSpPr>
          <p:cNvPr id="216" name="Google Shape;21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time here. Ask students: "What kind of employee might be disproportionately flagged by this kind of system?" Guide toward critical thinking about who gets tagged as anomalous.</a:t>
            </a:r>
            <a:endParaRPr/>
          </a:p>
        </p:txBody>
      </p:sp>
      <p:sp>
        <p:nvSpPr>
          <p:cNvPr id="240" name="Google Shape;24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ethical question for the course. Return to this after introducing NIST AI RMF.</a:t>
            </a:r>
            <a:endParaRPr/>
          </a:p>
        </p:txBody>
      </p:sp>
      <p:sp>
        <p:nvSpPr>
          <p:cNvPr id="256" name="Google Shape;25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function carefully. Students will apply these to the case study later.</a:t>
            </a:r>
            <a:endParaRPr/>
          </a:p>
        </p:txBody>
      </p:sp>
      <p:sp>
        <p:nvSpPr>
          <p:cNvPr id="284" name="Google Shape;28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GOVERN is foundational — it's the "before we turn the system on" function.</a:t>
            </a:r>
            <a:endParaRPr/>
          </a:p>
        </p:txBody>
      </p:sp>
      <p:sp>
        <p:nvSpPr>
          <p:cNvPr id="311" name="Google Shape;31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capstone activity for the session. Groups should produce a written recommendation they could defend to the ethics board, legal, and the employee.</a:t>
            </a:r>
            <a:endParaRPr/>
          </a:p>
        </p:txBody>
      </p:sp>
      <p:sp>
        <p:nvSpPr>
          <p:cNvPr id="400" name="Google Shape;40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 name="Shape 15"/>
        <p:cNvGrpSpPr/>
        <p:nvPr/>
      </p:nvGrpSpPr>
      <p:grpSpPr>
        <a:xfrm>
          <a:off x="0" y="0"/>
          <a:ext cx="0" cy="0"/>
          <a:chOff x="0" y="0"/>
          <a:chExt cx="0" cy="0"/>
        </a:xfrm>
      </p:grpSpPr>
      <p:sp>
        <p:nvSpPr>
          <p:cNvPr id="16" name="Google Shape;16;p1"/>
          <p:cNvSpPr/>
          <p:nvPr/>
        </p:nvSpPr>
        <p:spPr>
          <a:xfrm>
            <a:off x="0" y="0"/>
            <a:ext cx="164592" cy="6858000"/>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64592" y="0"/>
            <a:ext cx="11996928" cy="68580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502920" y="1645920"/>
            <a:ext cx="1115568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Class Meeting 2</a:t>
            </a:r>
            <a:endParaRPr b="0" i="0" sz="4800" u="none" cap="none" strike="noStrike">
              <a:solidFill>
                <a:schemeClr val="dk1"/>
              </a:solidFill>
              <a:latin typeface="Calibri"/>
              <a:ea typeface="Calibri"/>
              <a:cs typeface="Calibri"/>
              <a:sym typeface="Calibri"/>
            </a:endParaRPr>
          </a:p>
        </p:txBody>
      </p:sp>
      <p:sp>
        <p:nvSpPr>
          <p:cNvPr id="19" name="Google Shape;19;p1"/>
          <p:cNvSpPr/>
          <p:nvPr/>
        </p:nvSpPr>
        <p:spPr>
          <a:xfrm>
            <a:off x="502920" y="3566160"/>
            <a:ext cx="111556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200"/>
              <a:buFont typeface="Calibri"/>
              <a:buNone/>
            </a:pPr>
            <a:r>
              <a:rPr b="0" i="0" lang="en-US" sz="2200" u="none" cap="none" strike="noStrike">
                <a:solidFill>
                  <a:srgbClr val="00A896"/>
                </a:solidFill>
                <a:latin typeface="Calibri"/>
                <a:ea typeface="Calibri"/>
                <a:cs typeface="Calibri"/>
                <a:sym typeface="Calibri"/>
              </a:rPr>
              <a:t>Professional Judgment, Stakeholders &amp; AI-Enabled Cybersecurity</a:t>
            </a:r>
            <a:endParaRPr b="0" i="0" sz="2200" u="none" cap="none" strike="noStrike">
              <a:solidFill>
                <a:schemeClr val="dk1"/>
              </a:solidFill>
              <a:latin typeface="Calibri"/>
              <a:ea typeface="Calibri"/>
              <a:cs typeface="Calibri"/>
              <a:sym typeface="Calibri"/>
            </a:endParaRPr>
          </a:p>
        </p:txBody>
      </p:sp>
      <p:sp>
        <p:nvSpPr>
          <p:cNvPr id="20" name="Google Shape;20;p1"/>
          <p:cNvSpPr/>
          <p:nvPr/>
        </p:nvSpPr>
        <p:spPr>
          <a:xfrm>
            <a:off x="502920" y="4572000"/>
            <a:ext cx="11155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3B8"/>
              </a:buClr>
              <a:buSzPts val="1400"/>
              <a:buFont typeface="Calibri"/>
              <a:buNone/>
            </a:pPr>
            <a:r>
              <a:rPr b="0" i="0" lang="en-US" sz="1400" u="none" cap="none" strike="noStrike">
                <a:solidFill>
                  <a:srgbClr val="8BA3B8"/>
                </a:solidFill>
                <a:latin typeface="Calibri"/>
                <a:ea typeface="Calibri"/>
                <a:cs typeface="Calibri"/>
                <a:sym typeface="Calibri"/>
              </a:rPr>
              <a:t>Cyber Ethics &amp; Law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5" name="Shape 25"/>
        <p:cNvGrpSpPr/>
        <p:nvPr/>
      </p:nvGrpSpPr>
      <p:grpSpPr>
        <a:xfrm>
          <a:off x="0" y="0"/>
          <a:ext cx="0" cy="0"/>
          <a:chOff x="0" y="0"/>
          <a:chExt cx="0" cy="0"/>
        </a:xfrm>
      </p:grpSpPr>
      <p:sp>
        <p:nvSpPr>
          <p:cNvPr id="26" name="Google Shape;26;p2"/>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Today's Agenda</a:t>
            </a:r>
            <a:endParaRPr b="0" i="0" sz="2800" u="none" cap="none" strike="noStrike">
              <a:solidFill>
                <a:schemeClr val="dk1"/>
              </a:solidFill>
              <a:latin typeface="Calibri"/>
              <a:ea typeface="Calibri"/>
              <a:cs typeface="Calibri"/>
              <a:sym typeface="Calibri"/>
            </a:endParaRPr>
          </a:p>
        </p:txBody>
      </p:sp>
      <p:sp>
        <p:nvSpPr>
          <p:cNvPr id="27" name="Google Shape;27;p2"/>
          <p:cNvSpPr/>
          <p:nvPr/>
        </p:nvSpPr>
        <p:spPr>
          <a:xfrm>
            <a:off x="457200" y="86868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457200" y="1005840"/>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57200" y="1005840"/>
            <a:ext cx="5486400" cy="64008"/>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94360" y="1115568"/>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Section 1</a:t>
            </a:r>
            <a:endParaRPr b="0" i="0" sz="1500" u="none" cap="none" strike="noStrike">
              <a:solidFill>
                <a:schemeClr val="dk1"/>
              </a:solidFill>
              <a:latin typeface="Calibri"/>
              <a:ea typeface="Calibri"/>
              <a:cs typeface="Calibri"/>
              <a:sym typeface="Calibri"/>
            </a:endParaRPr>
          </a:p>
        </p:txBody>
      </p:sp>
      <p:sp>
        <p:nvSpPr>
          <p:cNvPr id="31" name="Google Shape;31;p2"/>
          <p:cNvSpPr/>
          <p:nvPr/>
        </p:nvSpPr>
        <p:spPr>
          <a:xfrm>
            <a:off x="594360" y="1508760"/>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Professional Codes of Ethics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Competing Professional Responsibilities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Stakeholder Analysis</a:t>
            </a:r>
            <a:endParaRPr b="0" i="0" sz="1300" u="none" cap="none" strike="noStrike">
              <a:solidFill>
                <a:schemeClr val="dk1"/>
              </a:solidFill>
              <a:latin typeface="Calibri"/>
              <a:ea typeface="Calibri"/>
              <a:cs typeface="Calibri"/>
              <a:sym typeface="Calibri"/>
            </a:endParaRPr>
          </a:p>
        </p:txBody>
      </p:sp>
      <p:sp>
        <p:nvSpPr>
          <p:cNvPr id="32" name="Google Shape;32;p2"/>
          <p:cNvSpPr/>
          <p:nvPr/>
        </p:nvSpPr>
        <p:spPr>
          <a:xfrm>
            <a:off x="6080760" y="1005840"/>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080760" y="1005840"/>
            <a:ext cx="5486400" cy="64008"/>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217920" y="1115568"/>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500"/>
              <a:buFont typeface="Calibri"/>
              <a:buNone/>
            </a:pPr>
            <a:r>
              <a:rPr b="1" i="0" lang="en-US" sz="1500" u="none" cap="none" strike="noStrike">
                <a:solidFill>
                  <a:srgbClr val="FFD166"/>
                </a:solidFill>
                <a:latin typeface="Calibri"/>
                <a:ea typeface="Calibri"/>
                <a:cs typeface="Calibri"/>
                <a:sym typeface="Calibri"/>
              </a:rPr>
              <a:t>Section 2 </a:t>
            </a:r>
            <a:endParaRPr b="0" i="0" sz="1500" u="none" cap="none" strike="noStrike">
              <a:solidFill>
                <a:schemeClr val="dk1"/>
              </a:solidFill>
              <a:latin typeface="Calibri"/>
              <a:ea typeface="Calibri"/>
              <a:cs typeface="Calibri"/>
              <a:sym typeface="Calibri"/>
            </a:endParaRPr>
          </a:p>
        </p:txBody>
      </p:sp>
      <p:sp>
        <p:nvSpPr>
          <p:cNvPr id="35" name="Google Shape;35;p2"/>
          <p:cNvSpPr/>
          <p:nvPr/>
        </p:nvSpPr>
        <p:spPr>
          <a:xfrm>
            <a:off x="6217920" y="1508760"/>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Privacy, Authorization &amp; Surveillance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Case Introduction: AI Flags an Insider Threat</a:t>
            </a:r>
            <a:endParaRPr b="0" i="0" sz="1300" u="none" cap="none" strike="noStrike">
              <a:solidFill>
                <a:schemeClr val="dk1"/>
              </a:solidFill>
              <a:latin typeface="Calibri"/>
              <a:ea typeface="Calibri"/>
              <a:cs typeface="Calibri"/>
              <a:sym typeface="Calibri"/>
            </a:endParaRPr>
          </a:p>
        </p:txBody>
      </p:sp>
      <p:sp>
        <p:nvSpPr>
          <p:cNvPr id="36" name="Google Shape;36;p2"/>
          <p:cNvSpPr/>
          <p:nvPr/>
        </p:nvSpPr>
        <p:spPr>
          <a:xfrm>
            <a:off x="457200" y="3547872"/>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57200" y="3547872"/>
            <a:ext cx="5486400" cy="64008"/>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94360" y="3657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Section </a:t>
            </a:r>
            <a:r>
              <a:rPr b="1" lang="en-US" sz="1500">
                <a:solidFill>
                  <a:srgbClr val="F4A261"/>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39" name="Google Shape;39;p2"/>
          <p:cNvSpPr/>
          <p:nvPr/>
        </p:nvSpPr>
        <p:spPr>
          <a:xfrm>
            <a:off x="594360" y="4050792"/>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AI-Assisted Threat Detection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False Positives, Bias &amp; Assumptions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Human Oversight &amp; Accountability</a:t>
            </a:r>
            <a:endParaRPr b="0" i="0" sz="1300" u="none" cap="none" strike="noStrike">
              <a:solidFill>
                <a:schemeClr val="dk1"/>
              </a:solidFill>
              <a:latin typeface="Calibri"/>
              <a:ea typeface="Calibri"/>
              <a:cs typeface="Calibri"/>
              <a:sym typeface="Calibri"/>
            </a:endParaRPr>
          </a:p>
        </p:txBody>
      </p:sp>
      <p:sp>
        <p:nvSpPr>
          <p:cNvPr id="40" name="Google Shape;40;p2"/>
          <p:cNvSpPr/>
          <p:nvPr/>
        </p:nvSpPr>
        <p:spPr>
          <a:xfrm>
            <a:off x="6080760" y="3547872"/>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080760" y="3547872"/>
            <a:ext cx="5486400" cy="64008"/>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217920" y="3657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500"/>
              <a:buFont typeface="Calibri"/>
              <a:buNone/>
            </a:pPr>
            <a:r>
              <a:rPr b="1" i="0" lang="en-US" sz="1500" u="none" cap="none" strike="noStrike">
                <a:solidFill>
                  <a:srgbClr val="2EC4B6"/>
                </a:solidFill>
                <a:latin typeface="Calibri"/>
                <a:ea typeface="Calibri"/>
                <a:cs typeface="Calibri"/>
                <a:sym typeface="Calibri"/>
              </a:rPr>
              <a:t>Section 4 </a:t>
            </a:r>
            <a:endParaRPr b="0" i="0" sz="1500" u="none" cap="none" strike="noStrike">
              <a:solidFill>
                <a:schemeClr val="dk1"/>
              </a:solidFill>
              <a:latin typeface="Calibri"/>
              <a:ea typeface="Calibri"/>
              <a:cs typeface="Calibri"/>
              <a:sym typeface="Calibri"/>
            </a:endParaRPr>
          </a:p>
        </p:txBody>
      </p:sp>
      <p:sp>
        <p:nvSpPr>
          <p:cNvPr id="43" name="Google Shape;43;p2"/>
          <p:cNvSpPr/>
          <p:nvPr/>
        </p:nvSpPr>
        <p:spPr>
          <a:xfrm>
            <a:off x="6217920" y="4050792"/>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NIST AI Risk Management Framework</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AI Risk Management in Practice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CSF 2.0 Connection &amp; Synthesis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8090"/>
        </a:solidFill>
      </p:bgPr>
    </p:bg>
    <p:spTree>
      <p:nvGrpSpPr>
        <p:cNvPr id="48" name="Shape 48"/>
        <p:cNvGrpSpPr/>
        <p:nvPr/>
      </p:nvGrpSpPr>
      <p:grpSpPr>
        <a:xfrm>
          <a:off x="0" y="0"/>
          <a:ext cx="0" cy="0"/>
          <a:chOff x="0" y="0"/>
          <a:chExt cx="0" cy="0"/>
        </a:xfrm>
      </p:grpSpPr>
      <p:sp>
        <p:nvSpPr>
          <p:cNvPr id="49" name="Google Shape;49;p3"/>
          <p:cNvSpPr/>
          <p:nvPr/>
        </p:nvSpPr>
        <p:spPr>
          <a:xfrm>
            <a:off x="548640" y="137160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800"/>
              <a:buFont typeface="Calibri"/>
              <a:buNone/>
            </a:pPr>
            <a:r>
              <a:rPr b="1" i="0" lang="en-US" sz="1800" u="none" cap="none" strike="noStrike">
                <a:solidFill>
                  <a:srgbClr val="0D1B2A"/>
                </a:solidFill>
                <a:latin typeface="Calibri"/>
                <a:ea typeface="Calibri"/>
                <a:cs typeface="Calibri"/>
                <a:sym typeface="Calibri"/>
              </a:rPr>
              <a:t>SECTION 1</a:t>
            </a:r>
            <a:endParaRPr b="0" i="0" sz="1800" u="none" cap="none" strike="noStrike">
              <a:solidFill>
                <a:schemeClr val="dk1"/>
              </a:solidFill>
              <a:latin typeface="Calibri"/>
              <a:ea typeface="Calibri"/>
              <a:cs typeface="Calibri"/>
              <a:sym typeface="Calibri"/>
            </a:endParaRPr>
          </a:p>
        </p:txBody>
      </p:sp>
      <p:sp>
        <p:nvSpPr>
          <p:cNvPr id="50" name="Google Shape;50;p3"/>
          <p:cNvSpPr/>
          <p:nvPr/>
        </p:nvSpPr>
        <p:spPr>
          <a:xfrm>
            <a:off x="548640" y="1920240"/>
            <a:ext cx="10972800" cy="1645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Professional Ethics</a:t>
            </a:r>
            <a:endParaRPr b="0" i="0" sz="4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&amp; Stakeholder Analysis</a:t>
            </a:r>
            <a:endParaRPr b="0" i="0" sz="4400" u="none" cap="none" strike="noStrike">
              <a:solidFill>
                <a:schemeClr val="dk1"/>
              </a:solidFill>
              <a:latin typeface="Calibri"/>
              <a:ea typeface="Calibri"/>
              <a:cs typeface="Calibri"/>
              <a:sym typeface="Calibri"/>
            </a:endParaRPr>
          </a:p>
        </p:txBody>
      </p:sp>
      <p:sp>
        <p:nvSpPr>
          <p:cNvPr id="51" name="Google Shape;51;p3"/>
          <p:cNvSpPr/>
          <p:nvPr/>
        </p:nvSpPr>
        <p:spPr>
          <a:xfrm>
            <a:off x="548640" y="3657600"/>
            <a:ext cx="109728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2000"/>
              <a:buFont typeface="Calibri"/>
              <a:buNone/>
            </a:pPr>
            <a:r>
              <a:rPr b="0" i="0" lang="en-US" sz="2000" u="none" cap="none" strike="noStrike">
                <a:solidFill>
                  <a:srgbClr val="0D1B2A"/>
                </a:solidFill>
                <a:latin typeface="Calibri"/>
                <a:ea typeface="Calibri"/>
                <a:cs typeface="Calibri"/>
                <a:sym typeface="Calibri"/>
              </a:rPr>
              <a:t>Building the ethical foundation for cybersecurity decisions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56" name="Shape 56"/>
        <p:cNvGrpSpPr/>
        <p:nvPr/>
      </p:nvGrpSpPr>
      <p:grpSpPr>
        <a:xfrm>
          <a:off x="0" y="0"/>
          <a:ext cx="0" cy="0"/>
          <a:chOff x="0" y="0"/>
          <a:chExt cx="0" cy="0"/>
        </a:xfrm>
      </p:grpSpPr>
      <p:sp>
        <p:nvSpPr>
          <p:cNvPr id="57" name="Google Shape;57;p4"/>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Why Professional Ethics in Cybersecurity?</a:t>
            </a:r>
            <a:endParaRPr b="0" i="0" sz="2800" u="none" cap="none" strike="noStrike">
              <a:solidFill>
                <a:schemeClr val="dk1"/>
              </a:solidFill>
              <a:latin typeface="Calibri"/>
              <a:ea typeface="Calibri"/>
              <a:cs typeface="Calibri"/>
              <a:sym typeface="Calibri"/>
            </a:endParaRPr>
          </a:p>
        </p:txBody>
      </p:sp>
      <p:sp>
        <p:nvSpPr>
          <p:cNvPr id="58" name="Google Shape;58;p4"/>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457200" y="1097280"/>
            <a:ext cx="11247120" cy="5394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4A261"/>
              </a:buClr>
              <a:buSzPts val="1800"/>
              <a:buFont typeface="Calibri"/>
              <a:buNone/>
            </a:pPr>
            <a:r>
              <a:rPr b="1" i="0" lang="en-US" sz="1800" u="none" cap="none" strike="noStrike">
                <a:solidFill>
                  <a:srgbClr val="F4A261"/>
                </a:solidFill>
                <a:latin typeface="Calibri"/>
                <a:ea typeface="Calibri"/>
                <a:cs typeface="Calibri"/>
                <a:sym typeface="Calibri"/>
              </a:rPr>
              <a:t>Cybersecurity professionals hold extraordinary power:</a:t>
            </a:r>
            <a:endParaRPr b="0" i="0" sz="18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Access to systems, data, and communications that others cannot see</a:t>
            </a:r>
            <a:endParaRPr b="0" i="0" sz="18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Ability to monitor, intercept, or disrupt digital activity</a:t>
            </a:r>
            <a:endParaRPr b="0" i="0" sz="18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Decisions that affect individuals, organizations, and public safety</a:t>
            </a:r>
            <a:endParaRPr b="0" i="0" sz="18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800"/>
              <a:buFont typeface="Calibri"/>
              <a:buNone/>
            </a:pPr>
            <a:r>
              <a:rPr b="1" i="0" lang="en-US" sz="1800" u="none" cap="none" strike="noStrike">
                <a:solidFill>
                  <a:srgbClr val="00A896"/>
                </a:solidFill>
                <a:latin typeface="Calibri"/>
                <a:ea typeface="Calibri"/>
                <a:cs typeface="Calibri"/>
                <a:sym typeface="Calibri"/>
              </a:rPr>
              <a:t>With that power comes ethical responsibility:</a:t>
            </a:r>
            <a:endParaRPr b="0" i="0" sz="18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Decisions go beyond technical correctness — they carry moral weight</a:t>
            </a:r>
            <a:endParaRPr b="0" i="0" sz="18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Ethics provide guidance when law, policy, and tools fall short</a:t>
            </a:r>
            <a:endParaRPr b="0" i="0" sz="18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Professional codes create shared standards across the field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64" name="Shape 64"/>
        <p:cNvGrpSpPr/>
        <p:nvPr/>
      </p:nvGrpSpPr>
      <p:grpSpPr>
        <a:xfrm>
          <a:off x="0" y="0"/>
          <a:ext cx="0" cy="0"/>
          <a:chOff x="0" y="0"/>
          <a:chExt cx="0" cy="0"/>
        </a:xfrm>
      </p:grpSpPr>
      <p:sp>
        <p:nvSpPr>
          <p:cNvPr id="65" name="Google Shape;65;p5"/>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Professional Codes of Ethics</a:t>
            </a:r>
            <a:endParaRPr b="0" i="0" sz="2800" u="none" cap="none" strike="noStrike">
              <a:solidFill>
                <a:schemeClr val="dk1"/>
              </a:solidFill>
              <a:latin typeface="Calibri"/>
              <a:ea typeface="Calibri"/>
              <a:cs typeface="Calibri"/>
              <a:sym typeface="Calibri"/>
            </a:endParaRPr>
          </a:p>
        </p:txBody>
      </p:sp>
      <p:sp>
        <p:nvSpPr>
          <p:cNvPr id="66" name="Google Shape;66;p5"/>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45720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Core Frameworks</a:t>
            </a:r>
            <a:endParaRPr b="0" i="0" sz="1600" u="none" cap="none" strike="noStrike">
              <a:solidFill>
                <a:schemeClr val="dk1"/>
              </a:solidFill>
              <a:latin typeface="Calibri"/>
              <a:ea typeface="Calibri"/>
              <a:cs typeface="Calibri"/>
              <a:sym typeface="Calibri"/>
            </a:endParaRPr>
          </a:p>
        </p:txBody>
      </p:sp>
      <p:sp>
        <p:nvSpPr>
          <p:cNvPr id="68" name="Google Shape;68;p5"/>
          <p:cNvSpPr/>
          <p:nvPr/>
        </p:nvSpPr>
        <p:spPr>
          <a:xfrm>
            <a:off x="630936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Shared Principles</a:t>
            </a:r>
            <a:endParaRPr b="0" i="0" sz="1600" u="none" cap="none" strike="noStrike">
              <a:solidFill>
                <a:schemeClr val="dk1"/>
              </a:solidFill>
              <a:latin typeface="Calibri"/>
              <a:ea typeface="Calibri"/>
              <a:cs typeface="Calibri"/>
              <a:sym typeface="Calibri"/>
            </a:endParaRPr>
          </a:p>
        </p:txBody>
      </p:sp>
      <p:sp>
        <p:nvSpPr>
          <p:cNvPr id="69" name="Google Shape;69;p5"/>
          <p:cNvSpPr/>
          <p:nvPr/>
        </p:nvSpPr>
        <p:spPr>
          <a:xfrm>
            <a:off x="45720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(ISC)² Code of Ethics</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Protect society, the common good, necessary public trust and confidence</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Act honorably, honestly, justly, responsibly, and legally</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Provide diligent and competent service to principals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Advance and protect the profession</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ACM Code of Ethics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Contribute to society and human well-being</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Avoid harm — actively, not just passively</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Be honest and trustworthy</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Respect privacy and give proper credit</a:t>
            </a:r>
            <a:endParaRPr b="0" i="0" sz="1700" u="none" cap="none" strike="noStrike">
              <a:solidFill>
                <a:schemeClr val="dk1"/>
              </a:solidFill>
              <a:latin typeface="Calibri"/>
              <a:ea typeface="Calibri"/>
              <a:cs typeface="Calibri"/>
              <a:sym typeface="Calibri"/>
            </a:endParaRPr>
          </a:p>
        </p:txBody>
      </p:sp>
      <p:sp>
        <p:nvSpPr>
          <p:cNvPr id="70" name="Google Shape;70;p5"/>
          <p:cNvSpPr/>
          <p:nvPr/>
        </p:nvSpPr>
        <p:spPr>
          <a:xfrm>
            <a:off x="6172200" y="1097280"/>
            <a:ext cx="27432" cy="539496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630936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600"/>
              </a:spcBef>
              <a:spcAft>
                <a:spcPts val="0"/>
              </a:spcAft>
              <a:buNone/>
            </a:pPr>
            <a:r>
              <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D166"/>
              </a:buClr>
              <a:buSzPts val="1700"/>
              <a:buFont typeface="Calibri"/>
              <a:buNone/>
            </a:pPr>
            <a:r>
              <a:rPr b="1" i="0" lang="en-US" sz="1700" u="none" cap="none" strike="noStrike">
                <a:solidFill>
                  <a:srgbClr val="FFD166"/>
                </a:solidFill>
                <a:latin typeface="Calibri"/>
                <a:ea typeface="Calibri"/>
                <a:cs typeface="Calibri"/>
                <a:sym typeface="Calibri"/>
              </a:rPr>
              <a:t>What codes share in common:</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Honesty and integrity</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Avoiding harm</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Confidentiality of information</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Public interest beyond client interest</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Ongoing professional development</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76" name="Shape 76"/>
        <p:cNvGrpSpPr/>
        <p:nvPr/>
      </p:nvGrpSpPr>
      <p:grpSpPr>
        <a:xfrm>
          <a:off x="0" y="0"/>
          <a:ext cx="0" cy="0"/>
          <a:chOff x="0" y="0"/>
          <a:chExt cx="0" cy="0"/>
        </a:xfrm>
      </p:grpSpPr>
      <p:sp>
        <p:nvSpPr>
          <p:cNvPr id="77" name="Google Shape;77;p6"/>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Competing Professional Responsibilities</a:t>
            </a:r>
            <a:endParaRPr b="0" i="0" sz="2800" u="none" cap="none" strike="noStrike">
              <a:solidFill>
                <a:schemeClr val="dk1"/>
              </a:solidFill>
              <a:latin typeface="Calibri"/>
              <a:ea typeface="Calibri"/>
              <a:cs typeface="Calibri"/>
              <a:sym typeface="Calibri"/>
            </a:endParaRPr>
          </a:p>
        </p:txBody>
      </p:sp>
      <p:sp>
        <p:nvSpPr>
          <p:cNvPr id="78" name="Google Shape;78;p6"/>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45720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Lower-Stakes Tensions</a:t>
            </a:r>
            <a:endParaRPr b="0" i="0" sz="1600" u="none" cap="none" strike="noStrike">
              <a:solidFill>
                <a:schemeClr val="dk1"/>
              </a:solidFill>
              <a:latin typeface="Calibri"/>
              <a:ea typeface="Calibri"/>
              <a:cs typeface="Calibri"/>
              <a:sym typeface="Calibri"/>
            </a:endParaRPr>
          </a:p>
        </p:txBody>
      </p:sp>
      <p:sp>
        <p:nvSpPr>
          <p:cNvPr id="80" name="Google Shape;80;p6"/>
          <p:cNvSpPr/>
          <p:nvPr/>
        </p:nvSpPr>
        <p:spPr>
          <a:xfrm>
            <a:off x="630936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Higher-Stakes Tensions</a:t>
            </a:r>
            <a:endParaRPr b="0" i="0" sz="1600" u="none" cap="none" strike="noStrike">
              <a:solidFill>
                <a:schemeClr val="dk1"/>
              </a:solidFill>
              <a:latin typeface="Calibri"/>
              <a:ea typeface="Calibri"/>
              <a:cs typeface="Calibri"/>
              <a:sym typeface="Calibri"/>
            </a:endParaRPr>
          </a:p>
        </p:txBody>
      </p:sp>
      <p:sp>
        <p:nvSpPr>
          <p:cNvPr id="81" name="Google Shape;81;p6"/>
          <p:cNvSpPr/>
          <p:nvPr/>
        </p:nvSpPr>
        <p:spPr>
          <a:xfrm>
            <a:off x="45720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Duties to the Employer</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Protect the organization's systems and data</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Follow internal policies and directives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Maintain confidentiality of organizational information</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Support business objectives and continuity</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Duties to the Client / User</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Protect user data and privacy</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Operate only within authorized scope</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Disclose conflicts of interest</a:t>
            </a:r>
            <a:endParaRPr b="0" i="0" sz="1600" u="none" cap="none" strike="noStrike">
              <a:solidFill>
                <a:schemeClr val="dk1"/>
              </a:solidFill>
              <a:latin typeface="Calibri"/>
              <a:ea typeface="Calibri"/>
              <a:cs typeface="Calibri"/>
              <a:sym typeface="Calibri"/>
            </a:endParaRPr>
          </a:p>
        </p:txBody>
      </p:sp>
      <p:sp>
        <p:nvSpPr>
          <p:cNvPr id="82" name="Google Shape;82;p6"/>
          <p:cNvSpPr/>
          <p:nvPr/>
        </p:nvSpPr>
        <p:spPr>
          <a:xfrm>
            <a:off x="6172200" y="1097280"/>
            <a:ext cx="27432" cy="539496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630936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Duties to the Profession</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Uphold ethical standards even when inconvenient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Report misconduct through appropriate channels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Maintain and improve competence</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Duties to the Public</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Protect public safety and critical infrastructure</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Do not allow harm to others for organizational benefit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Whistleblowing may be required when public safety is at stake</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D166"/>
              </a:buClr>
              <a:buSzPts val="1500"/>
              <a:buFont typeface="Calibri"/>
              <a:buNone/>
            </a:pPr>
            <a:r>
              <a:rPr b="0" i="1" lang="en-US" sz="1500" u="none" cap="none" strike="noStrike">
                <a:solidFill>
                  <a:srgbClr val="FFD166"/>
                </a:solidFill>
                <a:latin typeface="Calibri"/>
                <a:ea typeface="Calibri"/>
                <a:cs typeface="Calibri"/>
                <a:sym typeface="Calibri"/>
              </a:rPr>
              <a:t>These duties can conflict — and that's where ethics gets hard.</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88" name="Shape 88"/>
        <p:cNvGrpSpPr/>
        <p:nvPr/>
      </p:nvGrpSpPr>
      <p:grpSpPr>
        <a:xfrm>
          <a:off x="0" y="0"/>
          <a:ext cx="0" cy="0"/>
          <a:chOff x="0" y="0"/>
          <a:chExt cx="0" cy="0"/>
        </a:xfrm>
      </p:grpSpPr>
      <p:sp>
        <p:nvSpPr>
          <p:cNvPr id="89" name="Google Shape;89;p7"/>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2800"/>
              <a:buFont typeface="Cambria"/>
              <a:buNone/>
            </a:pPr>
            <a:r>
              <a:rPr b="1" i="0" lang="en-US" sz="2800" u="none" cap="none" strike="noStrike">
                <a:solidFill>
                  <a:srgbClr val="F4A261"/>
                </a:solidFill>
                <a:latin typeface="Cambria"/>
                <a:ea typeface="Cambria"/>
                <a:cs typeface="Cambria"/>
                <a:sym typeface="Cambria"/>
              </a:rPr>
              <a:t>Mini-Scenario: Where Do Your Loyalties Lie?</a:t>
            </a:r>
            <a:endParaRPr b="0" i="0" sz="2800" u="none" cap="none" strike="noStrike">
              <a:solidFill>
                <a:schemeClr val="dk1"/>
              </a:solidFill>
              <a:latin typeface="Calibri"/>
              <a:ea typeface="Calibri"/>
              <a:cs typeface="Calibri"/>
              <a:sym typeface="Calibri"/>
            </a:endParaRPr>
          </a:p>
        </p:txBody>
      </p:sp>
      <p:sp>
        <p:nvSpPr>
          <p:cNvPr id="90" name="Google Shape;90;p7"/>
          <p:cNvSpPr/>
          <p:nvPr/>
        </p:nvSpPr>
        <p:spPr>
          <a:xfrm>
            <a:off x="457200" y="868680"/>
            <a:ext cx="11247120" cy="27432"/>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457200" y="960120"/>
            <a:ext cx="11247120" cy="1645920"/>
          </a:xfrm>
          <a:prstGeom prst="rect">
            <a:avLst/>
          </a:prstGeom>
          <a:solidFill>
            <a:srgbClr val="1A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457200" y="960120"/>
            <a:ext cx="91440" cy="164592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685800" y="1005840"/>
            <a:ext cx="10881360" cy="1554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500"/>
              <a:buFont typeface="Calibri"/>
              <a:buNone/>
            </a:pPr>
            <a:r>
              <a:rPr b="0" i="1" lang="en-US" sz="1500" u="none" cap="none" strike="noStrike">
                <a:solidFill>
                  <a:srgbClr val="E8EDF2"/>
                </a:solidFill>
                <a:latin typeface="Calibri"/>
                <a:ea typeface="Calibri"/>
                <a:cs typeface="Calibri"/>
                <a:sym typeface="Calibri"/>
              </a:rPr>
              <a:t>You are a security analyst. Your manager asks you to monitor the personal email of an employee suspected of leaking trade secrets — without the employee's knowledge and without any formal authorization. Your manager says, "Just do it quietly. No one will know."</a:t>
            </a:r>
            <a:endParaRPr b="0" i="0" sz="1500" u="none" cap="none" strike="noStrike">
              <a:solidFill>
                <a:schemeClr val="dk1"/>
              </a:solidFill>
              <a:latin typeface="Calibri"/>
              <a:ea typeface="Calibri"/>
              <a:cs typeface="Calibri"/>
              <a:sym typeface="Calibri"/>
            </a:endParaRPr>
          </a:p>
        </p:txBody>
      </p:sp>
      <p:sp>
        <p:nvSpPr>
          <p:cNvPr id="94" name="Google Shape;94;p7"/>
          <p:cNvSpPr/>
          <p:nvPr/>
        </p:nvSpPr>
        <p:spPr>
          <a:xfrm>
            <a:off x="457200" y="2743200"/>
            <a:ext cx="11247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Discussion Questions</a:t>
            </a:r>
            <a:endParaRPr b="0" i="0" sz="1600" u="none" cap="none" strike="noStrike">
              <a:solidFill>
                <a:schemeClr val="dk1"/>
              </a:solidFill>
              <a:latin typeface="Calibri"/>
              <a:ea typeface="Calibri"/>
              <a:cs typeface="Calibri"/>
              <a:sym typeface="Calibri"/>
            </a:endParaRPr>
          </a:p>
        </p:txBody>
      </p:sp>
      <p:sp>
        <p:nvSpPr>
          <p:cNvPr id="95" name="Google Shape;95;p7"/>
          <p:cNvSpPr/>
          <p:nvPr/>
        </p:nvSpPr>
        <p:spPr>
          <a:xfrm>
            <a:off x="457200" y="3154680"/>
            <a:ext cx="11247120" cy="34747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Which professional duties are in tension in this situation?</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What does your professional code of ethics tell you to do?</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What is the difference between what you are being asked to do and a legally authorized investigation?</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What would you actually do, and why?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00" name="Shape 100"/>
        <p:cNvGrpSpPr/>
        <p:nvPr/>
      </p:nvGrpSpPr>
      <p:grpSpPr>
        <a:xfrm>
          <a:off x="0" y="0"/>
          <a:ext cx="0" cy="0"/>
          <a:chOff x="0" y="0"/>
          <a:chExt cx="0" cy="0"/>
        </a:xfrm>
      </p:grpSpPr>
      <p:sp>
        <p:nvSpPr>
          <p:cNvPr id="101" name="Google Shape;101;p8"/>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Stakeholder Analysis in Cybersecurity Decisions</a:t>
            </a:r>
            <a:endParaRPr b="0" i="0" sz="2800" u="none" cap="none" strike="noStrike">
              <a:solidFill>
                <a:schemeClr val="dk1"/>
              </a:solidFill>
              <a:latin typeface="Calibri"/>
              <a:ea typeface="Calibri"/>
              <a:cs typeface="Calibri"/>
              <a:sym typeface="Calibri"/>
            </a:endParaRPr>
          </a:p>
        </p:txBody>
      </p:sp>
      <p:sp>
        <p:nvSpPr>
          <p:cNvPr id="102" name="Google Shape;102;p8"/>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457200" y="1097280"/>
            <a:ext cx="11247120" cy="5394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What is a stakeholder?</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Anyone who has an interest in or is affected by a decision or its outcomes</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Why does it matter?</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Security decisions rarely affect only one person or group</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Ignoring stakeholders leads to incomplete analysis and harmful outcomes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Identifying stakeholders helps us ask: "Who benefits? Who is harmed? Who has authority?"</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Stakeholder categories in cybersecurity:</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Direct: the organization, the security team, individual employees under investigation</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Indirect: customers whose data is held, business partners, regulators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Systemic: communities affected by security failures or over-monitoring</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Adversarial: threat actors who benefit from weak security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08" name="Shape 108"/>
        <p:cNvGrpSpPr/>
        <p:nvPr/>
      </p:nvGrpSpPr>
      <p:grpSpPr>
        <a:xfrm>
          <a:off x="0" y="0"/>
          <a:ext cx="0" cy="0"/>
          <a:chOff x="0" y="0"/>
          <a:chExt cx="0" cy="0"/>
        </a:xfrm>
      </p:grpSpPr>
      <p:sp>
        <p:nvSpPr>
          <p:cNvPr id="109" name="Google Shape;109;p9"/>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Stakeholder Map: The Insider Threat Case</a:t>
            </a:r>
            <a:endParaRPr b="0" i="0" sz="2800" u="none" cap="none" strike="noStrike">
              <a:solidFill>
                <a:schemeClr val="dk1"/>
              </a:solidFill>
              <a:latin typeface="Calibri"/>
              <a:ea typeface="Calibri"/>
              <a:cs typeface="Calibri"/>
              <a:sym typeface="Calibri"/>
            </a:endParaRPr>
          </a:p>
        </p:txBody>
      </p:sp>
      <p:sp>
        <p:nvSpPr>
          <p:cNvPr id="110" name="Google Shape;110;p9"/>
          <p:cNvSpPr/>
          <p:nvPr/>
        </p:nvSpPr>
        <p:spPr>
          <a:xfrm>
            <a:off x="457200" y="86868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
          <p:cNvSpPr/>
          <p:nvPr/>
        </p:nvSpPr>
        <p:spPr>
          <a:xfrm>
            <a:off x="457200" y="1005840"/>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457200" y="1005840"/>
            <a:ext cx="3749040" cy="64008"/>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594360" y="1115568"/>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3946"/>
              </a:buClr>
              <a:buSzPts val="1500"/>
              <a:buFont typeface="Calibri"/>
              <a:buNone/>
            </a:pPr>
            <a:r>
              <a:rPr b="1" i="0" lang="en-US" sz="1500" u="none" cap="none" strike="noStrike">
                <a:solidFill>
                  <a:srgbClr val="E63946"/>
                </a:solidFill>
                <a:latin typeface="Calibri"/>
                <a:ea typeface="Calibri"/>
                <a:cs typeface="Calibri"/>
                <a:sym typeface="Calibri"/>
              </a:rPr>
              <a:t>The Flagged Employee</a:t>
            </a:r>
            <a:endParaRPr b="0" i="0" sz="1500" u="none" cap="none" strike="noStrike">
              <a:solidFill>
                <a:schemeClr val="dk1"/>
              </a:solidFill>
              <a:latin typeface="Calibri"/>
              <a:ea typeface="Calibri"/>
              <a:cs typeface="Calibri"/>
              <a:sym typeface="Calibri"/>
            </a:endParaRPr>
          </a:p>
        </p:txBody>
      </p:sp>
      <p:sp>
        <p:nvSpPr>
          <p:cNvPr id="114" name="Google Shape;114;p9"/>
          <p:cNvSpPr/>
          <p:nvPr/>
        </p:nvSpPr>
        <p:spPr>
          <a:xfrm>
            <a:off x="594360" y="1508760"/>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Privacy rights, presumption of innocence, career impact if wrongly accused, rights to due process</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4343400" y="1005840"/>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a:off x="4343400" y="1005840"/>
            <a:ext cx="3749040" cy="64008"/>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4480560" y="1115568"/>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The Security Team</a:t>
            </a:r>
            <a:endParaRPr b="0" i="0" sz="1500" u="none" cap="none" strike="noStrike">
              <a:solidFill>
                <a:schemeClr val="dk1"/>
              </a:solidFill>
              <a:latin typeface="Calibri"/>
              <a:ea typeface="Calibri"/>
              <a:cs typeface="Calibri"/>
              <a:sym typeface="Calibri"/>
            </a:endParaRPr>
          </a:p>
        </p:txBody>
      </p:sp>
      <p:sp>
        <p:nvSpPr>
          <p:cNvPr id="118" name="Google Shape;118;p9"/>
          <p:cNvSpPr/>
          <p:nvPr/>
        </p:nvSpPr>
        <p:spPr>
          <a:xfrm>
            <a:off x="4480560" y="1508760"/>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Professional duty to investigate threats; also duty not to harm innocent people; owns the final recommendation</a:t>
            </a:r>
            <a:endParaRPr b="0" i="0" sz="1300" u="none" cap="none" strike="noStrike">
              <a:solidFill>
                <a:schemeClr val="dk1"/>
              </a:solidFill>
              <a:latin typeface="Calibri"/>
              <a:ea typeface="Calibri"/>
              <a:cs typeface="Calibri"/>
              <a:sym typeface="Calibri"/>
            </a:endParaRPr>
          </a:p>
        </p:txBody>
      </p:sp>
      <p:sp>
        <p:nvSpPr>
          <p:cNvPr id="119" name="Google Shape;119;p9"/>
          <p:cNvSpPr/>
          <p:nvPr/>
        </p:nvSpPr>
        <p:spPr>
          <a:xfrm>
            <a:off x="8229600" y="1005840"/>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a:off x="8229600" y="1005840"/>
            <a:ext cx="3749040" cy="64008"/>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8366760" y="1115568"/>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The Organization</a:t>
            </a:r>
            <a:endParaRPr b="0" i="0" sz="1500" u="none" cap="none" strike="noStrike">
              <a:solidFill>
                <a:schemeClr val="dk1"/>
              </a:solidFill>
              <a:latin typeface="Calibri"/>
              <a:ea typeface="Calibri"/>
              <a:cs typeface="Calibri"/>
              <a:sym typeface="Calibri"/>
            </a:endParaRPr>
          </a:p>
        </p:txBody>
      </p:sp>
      <p:sp>
        <p:nvSpPr>
          <p:cNvPr id="122" name="Google Shape;122;p9"/>
          <p:cNvSpPr/>
          <p:nvPr/>
        </p:nvSpPr>
        <p:spPr>
          <a:xfrm>
            <a:off x="8366760" y="1508760"/>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Protect intellectual property and systems; comply with law; minimize liability; maintain employee trust</a:t>
            </a:r>
            <a:endParaRPr b="0" i="0" sz="1300" u="none" cap="none" strike="noStrike">
              <a:solidFill>
                <a:schemeClr val="dk1"/>
              </a:solidFill>
              <a:latin typeface="Calibri"/>
              <a:ea typeface="Calibri"/>
              <a:cs typeface="Calibri"/>
              <a:sym typeface="Calibri"/>
            </a:endParaRPr>
          </a:p>
        </p:txBody>
      </p:sp>
      <p:sp>
        <p:nvSpPr>
          <p:cNvPr id="123" name="Google Shape;123;p9"/>
          <p:cNvSpPr/>
          <p:nvPr/>
        </p:nvSpPr>
        <p:spPr>
          <a:xfrm>
            <a:off x="457200" y="3547872"/>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457200" y="3547872"/>
            <a:ext cx="3749040" cy="64008"/>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9"/>
          <p:cNvSpPr/>
          <p:nvPr/>
        </p:nvSpPr>
        <p:spPr>
          <a:xfrm>
            <a:off x="594360" y="3657600"/>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500"/>
              <a:buFont typeface="Calibri"/>
              <a:buNone/>
            </a:pPr>
            <a:r>
              <a:rPr b="1" i="0" lang="en-US" sz="1500" u="none" cap="none" strike="noStrike">
                <a:solidFill>
                  <a:srgbClr val="FFD166"/>
                </a:solidFill>
                <a:latin typeface="Calibri"/>
                <a:ea typeface="Calibri"/>
                <a:cs typeface="Calibri"/>
                <a:sym typeface="Calibri"/>
              </a:rPr>
              <a:t>Customers &amp; Partners</a:t>
            </a:r>
            <a:endParaRPr b="0" i="0" sz="1500" u="none" cap="none" strike="noStrike">
              <a:solidFill>
                <a:schemeClr val="dk1"/>
              </a:solidFill>
              <a:latin typeface="Calibri"/>
              <a:ea typeface="Calibri"/>
              <a:cs typeface="Calibri"/>
              <a:sym typeface="Calibri"/>
            </a:endParaRPr>
          </a:p>
        </p:txBody>
      </p:sp>
      <p:sp>
        <p:nvSpPr>
          <p:cNvPr id="126" name="Google Shape;126;p9"/>
          <p:cNvSpPr/>
          <p:nvPr/>
        </p:nvSpPr>
        <p:spPr>
          <a:xfrm>
            <a:off x="594360" y="4050792"/>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Expect that their data is protected; harmed if a real threat goes unaddressed or privacy is violated</a:t>
            </a:r>
            <a:endParaRPr b="0" i="0" sz="1300" u="none" cap="none" strike="noStrike">
              <a:solidFill>
                <a:schemeClr val="dk1"/>
              </a:solidFill>
              <a:latin typeface="Calibri"/>
              <a:ea typeface="Calibri"/>
              <a:cs typeface="Calibri"/>
              <a:sym typeface="Calibri"/>
            </a:endParaRPr>
          </a:p>
        </p:txBody>
      </p:sp>
      <p:sp>
        <p:nvSpPr>
          <p:cNvPr id="127" name="Google Shape;127;p9"/>
          <p:cNvSpPr/>
          <p:nvPr/>
        </p:nvSpPr>
        <p:spPr>
          <a:xfrm>
            <a:off x="4343400" y="3547872"/>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4343400" y="3547872"/>
            <a:ext cx="3749040" cy="64008"/>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p:nvPr/>
        </p:nvSpPr>
        <p:spPr>
          <a:xfrm>
            <a:off x="4480560" y="3657600"/>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500"/>
              <a:buFont typeface="Calibri"/>
              <a:buNone/>
            </a:pPr>
            <a:r>
              <a:rPr b="1" i="0" lang="en-US" sz="1500" u="none" cap="none" strike="noStrike">
                <a:solidFill>
                  <a:srgbClr val="2EC4B6"/>
                </a:solidFill>
                <a:latin typeface="Calibri"/>
                <a:ea typeface="Calibri"/>
                <a:cs typeface="Calibri"/>
                <a:sym typeface="Calibri"/>
              </a:rPr>
              <a:t>Legal / Compliance</a:t>
            </a:r>
            <a:endParaRPr b="0" i="0" sz="1500" u="none" cap="none" strike="noStrike">
              <a:solidFill>
                <a:schemeClr val="dk1"/>
              </a:solidFill>
              <a:latin typeface="Calibri"/>
              <a:ea typeface="Calibri"/>
              <a:cs typeface="Calibri"/>
              <a:sym typeface="Calibri"/>
            </a:endParaRPr>
          </a:p>
        </p:txBody>
      </p:sp>
      <p:sp>
        <p:nvSpPr>
          <p:cNvPr id="130" name="Google Shape;130;p9"/>
          <p:cNvSpPr/>
          <p:nvPr/>
        </p:nvSpPr>
        <p:spPr>
          <a:xfrm>
            <a:off x="4480560" y="4050792"/>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Authorization requirements; labor law; data protection regulations; must be involved before action</a:t>
            </a:r>
            <a:endParaRPr b="0" i="0" sz="1300" u="none" cap="none" strike="noStrike">
              <a:solidFill>
                <a:schemeClr val="dk1"/>
              </a:solidFill>
              <a:latin typeface="Calibri"/>
              <a:ea typeface="Calibri"/>
              <a:cs typeface="Calibri"/>
              <a:sym typeface="Calibri"/>
            </a:endParaRPr>
          </a:p>
        </p:txBody>
      </p:sp>
      <p:sp>
        <p:nvSpPr>
          <p:cNvPr id="131" name="Google Shape;131;p9"/>
          <p:cNvSpPr/>
          <p:nvPr/>
        </p:nvSpPr>
        <p:spPr>
          <a:xfrm>
            <a:off x="8229600" y="3547872"/>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8229600" y="3547872"/>
            <a:ext cx="3749040" cy="64008"/>
          </a:xfrm>
          <a:prstGeom prst="rect">
            <a:avLst/>
          </a:prstGeom>
          <a:solidFill>
            <a:srgbClr val="8B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8366760" y="3657600"/>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3B8"/>
              </a:buClr>
              <a:buSzPts val="1500"/>
              <a:buFont typeface="Calibri"/>
              <a:buNone/>
            </a:pPr>
            <a:r>
              <a:rPr b="1" i="0" lang="en-US" sz="1500" u="none" cap="none" strike="noStrike">
                <a:solidFill>
                  <a:srgbClr val="8BA3B8"/>
                </a:solidFill>
                <a:latin typeface="Calibri"/>
                <a:ea typeface="Calibri"/>
                <a:cs typeface="Calibri"/>
                <a:sym typeface="Calibri"/>
              </a:rPr>
              <a:t>The Public</a:t>
            </a:r>
            <a:endParaRPr b="0" i="0" sz="1500" u="none" cap="none" strike="noStrike">
              <a:solidFill>
                <a:schemeClr val="dk1"/>
              </a:solidFill>
              <a:latin typeface="Calibri"/>
              <a:ea typeface="Calibri"/>
              <a:cs typeface="Calibri"/>
              <a:sym typeface="Calibri"/>
            </a:endParaRPr>
          </a:p>
        </p:txBody>
      </p:sp>
      <p:sp>
        <p:nvSpPr>
          <p:cNvPr id="134" name="Google Shape;134;p9"/>
          <p:cNvSpPr/>
          <p:nvPr/>
        </p:nvSpPr>
        <p:spPr>
          <a:xfrm>
            <a:off x="8366760" y="4050792"/>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Broader interest in organizations not using security tools as surveillance tools against legitimate activity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8090"/>
        </a:solidFill>
      </p:bgPr>
    </p:bg>
    <p:spTree>
      <p:nvGrpSpPr>
        <p:cNvPr id="139" name="Shape 139"/>
        <p:cNvGrpSpPr/>
        <p:nvPr/>
      </p:nvGrpSpPr>
      <p:grpSpPr>
        <a:xfrm>
          <a:off x="0" y="0"/>
          <a:ext cx="0" cy="0"/>
          <a:chOff x="0" y="0"/>
          <a:chExt cx="0" cy="0"/>
        </a:xfrm>
      </p:grpSpPr>
      <p:sp>
        <p:nvSpPr>
          <p:cNvPr id="140" name="Google Shape;140;p10"/>
          <p:cNvSpPr/>
          <p:nvPr/>
        </p:nvSpPr>
        <p:spPr>
          <a:xfrm>
            <a:off x="548640" y="137160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800"/>
              <a:buFont typeface="Calibri"/>
              <a:buNone/>
            </a:pPr>
            <a:r>
              <a:rPr b="1" i="0" lang="en-US" sz="1800" u="none" cap="none" strike="noStrike">
                <a:solidFill>
                  <a:srgbClr val="0D1B2A"/>
                </a:solidFill>
                <a:latin typeface="Calibri"/>
                <a:ea typeface="Calibri"/>
                <a:cs typeface="Calibri"/>
                <a:sym typeface="Calibri"/>
              </a:rPr>
              <a:t>SECTION 2</a:t>
            </a:r>
            <a:endParaRPr b="0" i="0" sz="1800" u="none" cap="none" strike="noStrike">
              <a:solidFill>
                <a:schemeClr val="dk1"/>
              </a:solidFill>
              <a:latin typeface="Calibri"/>
              <a:ea typeface="Calibri"/>
              <a:cs typeface="Calibri"/>
              <a:sym typeface="Calibri"/>
            </a:endParaRPr>
          </a:p>
        </p:txBody>
      </p:sp>
      <p:sp>
        <p:nvSpPr>
          <p:cNvPr id="141" name="Google Shape;141;p10"/>
          <p:cNvSpPr/>
          <p:nvPr/>
        </p:nvSpPr>
        <p:spPr>
          <a:xfrm>
            <a:off x="548640" y="1920240"/>
            <a:ext cx="10972800" cy="1645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Privacy, Authorization</a:t>
            </a:r>
            <a:endParaRPr b="0" i="0" sz="4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&amp; The Case</a:t>
            </a:r>
            <a:endParaRPr b="0" i="0" sz="4400" u="none" cap="none" strike="noStrike">
              <a:solidFill>
                <a:schemeClr val="dk1"/>
              </a:solidFill>
              <a:latin typeface="Calibri"/>
              <a:ea typeface="Calibri"/>
              <a:cs typeface="Calibri"/>
              <a:sym typeface="Calibri"/>
            </a:endParaRPr>
          </a:p>
        </p:txBody>
      </p:sp>
      <p:sp>
        <p:nvSpPr>
          <p:cNvPr id="142" name="Google Shape;142;p10"/>
          <p:cNvSpPr/>
          <p:nvPr/>
        </p:nvSpPr>
        <p:spPr>
          <a:xfrm>
            <a:off x="548640" y="3657600"/>
            <a:ext cx="109728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2000"/>
              <a:buFont typeface="Calibri"/>
              <a:buNone/>
            </a:pPr>
            <a:r>
              <a:rPr b="0" i="0" lang="en-US" sz="2000" u="none" cap="none" strike="noStrike">
                <a:solidFill>
                  <a:srgbClr val="0D1B2A"/>
                </a:solidFill>
                <a:latin typeface="Calibri"/>
                <a:ea typeface="Calibri"/>
                <a:cs typeface="Calibri"/>
                <a:sym typeface="Calibri"/>
              </a:rPr>
              <a:t>Before the AI flagged anyone — what rules should govern?</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47" name="Shape 147"/>
        <p:cNvGrpSpPr/>
        <p:nvPr/>
      </p:nvGrpSpPr>
      <p:grpSpPr>
        <a:xfrm>
          <a:off x="0" y="0"/>
          <a:ext cx="0" cy="0"/>
          <a:chOff x="0" y="0"/>
          <a:chExt cx="0" cy="0"/>
        </a:xfrm>
      </p:grpSpPr>
      <p:sp>
        <p:nvSpPr>
          <p:cNvPr id="148" name="Google Shape;148;p11"/>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Privacy &amp; Authorization: Core Concepts</a:t>
            </a:r>
            <a:endParaRPr b="0" i="0" sz="2800" u="none" cap="none" strike="noStrike">
              <a:solidFill>
                <a:schemeClr val="dk1"/>
              </a:solidFill>
              <a:latin typeface="Calibri"/>
              <a:ea typeface="Calibri"/>
              <a:cs typeface="Calibri"/>
              <a:sym typeface="Calibri"/>
            </a:endParaRPr>
          </a:p>
        </p:txBody>
      </p:sp>
      <p:sp>
        <p:nvSpPr>
          <p:cNvPr id="149" name="Google Shape;149;p11"/>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a:off x="45720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Privacy Foundations</a:t>
            </a:r>
            <a:endParaRPr b="0" i="0" sz="1600" u="none" cap="none" strike="noStrike">
              <a:solidFill>
                <a:schemeClr val="dk1"/>
              </a:solidFill>
              <a:latin typeface="Calibri"/>
              <a:ea typeface="Calibri"/>
              <a:cs typeface="Calibri"/>
              <a:sym typeface="Calibri"/>
            </a:endParaRPr>
          </a:p>
        </p:txBody>
      </p:sp>
      <p:sp>
        <p:nvSpPr>
          <p:cNvPr id="151" name="Google Shape;151;p11"/>
          <p:cNvSpPr/>
          <p:nvPr/>
        </p:nvSpPr>
        <p:spPr>
          <a:xfrm>
            <a:off x="630936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Authorization Principles</a:t>
            </a:r>
            <a:endParaRPr b="0" i="0" sz="1600" u="none" cap="none" strike="noStrike">
              <a:solidFill>
                <a:schemeClr val="dk1"/>
              </a:solidFill>
              <a:latin typeface="Calibri"/>
              <a:ea typeface="Calibri"/>
              <a:cs typeface="Calibri"/>
              <a:sym typeface="Calibri"/>
            </a:endParaRPr>
          </a:p>
        </p:txBody>
      </p:sp>
      <p:sp>
        <p:nvSpPr>
          <p:cNvPr id="152" name="Google Shape;152;p11"/>
          <p:cNvSpPr/>
          <p:nvPr/>
        </p:nvSpPr>
        <p:spPr>
          <a:xfrm>
            <a:off x="45720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Privacy in the Workplace</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Employees do not surrender all privacy rights at work</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Monitoring scope must be disclosed, proportionate, and lawful</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Different standards apply to company-owned vs. personal devices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Privacy expectations vary by jurisdiction and organization policy</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Key Legal Frameworks (U.S.)</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Electronic Communications Privacy Act (ECPA)</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Computer Fraud and Abuse Act (CFAA)</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State-level data protection laws (e.g., CCPA)</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Sector-specific rules (HIPAA, FERPA, GLBA)</a:t>
            </a:r>
            <a:endParaRPr b="0" i="0" sz="1600" u="none" cap="none" strike="noStrike">
              <a:solidFill>
                <a:schemeClr val="dk1"/>
              </a:solidFill>
              <a:latin typeface="Calibri"/>
              <a:ea typeface="Calibri"/>
              <a:cs typeface="Calibri"/>
              <a:sym typeface="Calibri"/>
            </a:endParaRPr>
          </a:p>
        </p:txBody>
      </p:sp>
      <p:sp>
        <p:nvSpPr>
          <p:cNvPr id="153" name="Google Shape;153;p11"/>
          <p:cNvSpPr/>
          <p:nvPr/>
        </p:nvSpPr>
        <p:spPr>
          <a:xfrm>
            <a:off x="6172200" y="1097280"/>
            <a:ext cx="27432" cy="539496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a:off x="630936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Authorization</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Authorization is explicit permission to take a specific action</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Security tools do not grant unlimited surveillance authority</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"I can access it technically" ≠ "I am authorized to access it"</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Proportionality</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Monitoring response must match the severity of the suspected threat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Less invasive options should be exhausted before escalating</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Over-monitoring can violate rights even if technically lawful</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D166"/>
              </a:buClr>
              <a:buSzPts val="1500"/>
              <a:buFont typeface="Calibri"/>
              <a:buNone/>
            </a:pPr>
            <a:r>
              <a:rPr b="1" i="0" lang="en-US" sz="1500" u="none" cap="none" strike="noStrike">
                <a:solidFill>
                  <a:srgbClr val="FFD166"/>
                </a:solidFill>
                <a:latin typeface="Calibri"/>
                <a:ea typeface="Calibri"/>
                <a:cs typeface="Calibri"/>
                <a:sym typeface="Calibri"/>
              </a:rPr>
              <a:t>Rule of Thumb:</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"What are we authorized to do, and is this the minimum necessary action?"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1A"/>
        </a:solidFill>
      </p:bgPr>
    </p:bg>
    <p:spTree>
      <p:nvGrpSpPr>
        <p:cNvPr id="159" name="Shape 159"/>
        <p:cNvGrpSpPr/>
        <p:nvPr/>
      </p:nvGrpSpPr>
      <p:grpSpPr>
        <a:xfrm>
          <a:off x="0" y="0"/>
          <a:ext cx="0" cy="0"/>
          <a:chOff x="0" y="0"/>
          <a:chExt cx="0" cy="0"/>
        </a:xfrm>
      </p:grpSpPr>
      <p:sp>
        <p:nvSpPr>
          <p:cNvPr id="160" name="Google Shape;160;p12"/>
          <p:cNvSpPr/>
          <p:nvPr/>
        </p:nvSpPr>
        <p:spPr>
          <a:xfrm>
            <a:off x="0" y="0"/>
            <a:ext cx="12161520" cy="1005840"/>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2"/>
          <p:cNvSpPr/>
          <p:nvPr/>
        </p:nvSpPr>
        <p:spPr>
          <a:xfrm>
            <a:off x="457200" y="137160"/>
            <a:ext cx="1124712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  ALERT: AI INSIDER THREAT FLAG</a:t>
            </a:r>
            <a:endParaRPr b="0" i="0" sz="3000" u="none" cap="none" strike="noStrike">
              <a:solidFill>
                <a:schemeClr val="dk1"/>
              </a:solidFill>
              <a:latin typeface="Calibri"/>
              <a:ea typeface="Calibri"/>
              <a:cs typeface="Calibri"/>
              <a:sym typeface="Calibri"/>
            </a:endParaRPr>
          </a:p>
        </p:txBody>
      </p:sp>
      <p:sp>
        <p:nvSpPr>
          <p:cNvPr id="162" name="Google Shape;162;p12"/>
          <p:cNvSpPr/>
          <p:nvPr/>
        </p:nvSpPr>
        <p:spPr>
          <a:xfrm>
            <a:off x="457200" y="1188720"/>
            <a:ext cx="112471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3946"/>
              </a:buClr>
              <a:buSzPts val="2000"/>
              <a:buFont typeface="Calibri"/>
              <a:buNone/>
            </a:pPr>
            <a:r>
              <a:rPr b="1" i="0" lang="en-US" sz="2000" u="none" cap="none" strike="noStrike">
                <a:solidFill>
                  <a:srgbClr val="E63946"/>
                </a:solidFill>
                <a:latin typeface="Calibri"/>
                <a:ea typeface="Calibri"/>
                <a:cs typeface="Calibri"/>
                <a:sym typeface="Calibri"/>
              </a:rPr>
              <a:t>Applied Case: AI Flags an Insider Threat</a:t>
            </a:r>
            <a:endParaRPr b="0" i="0" sz="2000" u="none" cap="none" strike="noStrike">
              <a:solidFill>
                <a:schemeClr val="dk1"/>
              </a:solidFill>
              <a:latin typeface="Calibri"/>
              <a:ea typeface="Calibri"/>
              <a:cs typeface="Calibri"/>
              <a:sym typeface="Calibri"/>
            </a:endParaRPr>
          </a:p>
        </p:txBody>
      </p:sp>
      <p:sp>
        <p:nvSpPr>
          <p:cNvPr id="163" name="Google Shape;163;p12"/>
          <p:cNvSpPr/>
          <p:nvPr/>
        </p:nvSpPr>
        <p:spPr>
          <a:xfrm>
            <a:off x="457200" y="1783080"/>
            <a:ext cx="112471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600"/>
              <a:buFont typeface="Calibri"/>
              <a:buNone/>
            </a:pPr>
            <a:r>
              <a:rPr b="0" i="1" lang="en-US" sz="1600" u="none" cap="none" strike="noStrike">
                <a:solidFill>
                  <a:srgbClr val="E8EDF2"/>
                </a:solidFill>
                <a:latin typeface="Calibri"/>
                <a:ea typeface="Calibri"/>
                <a:cs typeface="Calibri"/>
                <a:sym typeface="Calibri"/>
              </a:rPr>
              <a:t>The AI behavioral monitoring system has generated a high-confidence insider threat alert. The flagged individual is a cybersecurity student employed in your organization's IT department. The system detected a cluster of anomalous behaviors over the past two weeks.</a:t>
            </a:r>
            <a:endParaRPr b="0" i="0" sz="1600" u="none" cap="none" strike="noStrike">
              <a:solidFill>
                <a:schemeClr val="dk1"/>
              </a:solidFill>
              <a:latin typeface="Calibri"/>
              <a:ea typeface="Calibri"/>
              <a:cs typeface="Calibri"/>
              <a:sym typeface="Calibri"/>
            </a:endParaRPr>
          </a:p>
        </p:txBody>
      </p:sp>
      <p:sp>
        <p:nvSpPr>
          <p:cNvPr id="164" name="Google Shape;164;p12"/>
          <p:cNvSpPr/>
          <p:nvPr/>
        </p:nvSpPr>
        <p:spPr>
          <a:xfrm>
            <a:off x="457200" y="2834640"/>
            <a:ext cx="11247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Flagged Behaviors</a:t>
            </a:r>
            <a:endParaRPr b="0" i="0" sz="1600" u="none" cap="none" strike="noStrike">
              <a:solidFill>
                <a:schemeClr val="dk1"/>
              </a:solidFill>
              <a:latin typeface="Calibri"/>
              <a:ea typeface="Calibri"/>
              <a:cs typeface="Calibri"/>
              <a:sym typeface="Calibri"/>
            </a:endParaRPr>
          </a:p>
        </p:txBody>
      </p:sp>
      <p:sp>
        <p:nvSpPr>
          <p:cNvPr id="165" name="Google Shape;165;p12"/>
          <p:cNvSpPr/>
          <p:nvPr/>
        </p:nvSpPr>
        <p:spPr>
          <a:xfrm>
            <a:off x="457200" y="3291840"/>
            <a:ext cx="3474720" cy="50292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2"/>
          <p:cNvSpPr/>
          <p:nvPr/>
        </p:nvSpPr>
        <p:spPr>
          <a:xfrm>
            <a:off x="4160520" y="3291840"/>
            <a:ext cx="7589520" cy="502920"/>
          </a:xfrm>
          <a:prstGeom prst="rect">
            <a:avLst/>
          </a:prstGeom>
          <a:solidFill>
            <a:srgbClr val="15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
          <p:cNvSpPr/>
          <p:nvPr/>
        </p:nvSpPr>
        <p:spPr>
          <a:xfrm>
            <a:off x="566928" y="3364992"/>
            <a:ext cx="3246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400"/>
              <a:buFont typeface="Calibri"/>
              <a:buNone/>
            </a:pPr>
            <a:r>
              <a:rPr b="1" i="0" lang="en-US" sz="1400" u="none" cap="none" strike="noStrike">
                <a:solidFill>
                  <a:srgbClr val="F4A261"/>
                </a:solidFill>
                <a:latin typeface="Calibri"/>
                <a:ea typeface="Calibri"/>
                <a:cs typeface="Calibri"/>
                <a:sym typeface="Calibri"/>
              </a:rPr>
              <a:t>Unusual login times</a:t>
            </a:r>
            <a:endParaRPr b="0" i="0" sz="1400" u="none" cap="none" strike="noStrike">
              <a:solidFill>
                <a:schemeClr val="dk1"/>
              </a:solidFill>
              <a:latin typeface="Calibri"/>
              <a:ea typeface="Calibri"/>
              <a:cs typeface="Calibri"/>
              <a:sym typeface="Calibri"/>
            </a:endParaRPr>
          </a:p>
        </p:txBody>
      </p:sp>
      <p:sp>
        <p:nvSpPr>
          <p:cNvPr id="168" name="Google Shape;168;p12"/>
          <p:cNvSpPr/>
          <p:nvPr/>
        </p:nvSpPr>
        <p:spPr>
          <a:xfrm>
            <a:off x="4297680" y="3364992"/>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Accessing systems at 2–4 AM on multiple nights</a:t>
            </a:r>
            <a:endParaRPr b="0" i="0" sz="1400" u="none" cap="none" strike="noStrike">
              <a:solidFill>
                <a:schemeClr val="dk1"/>
              </a:solidFill>
              <a:latin typeface="Calibri"/>
              <a:ea typeface="Calibri"/>
              <a:cs typeface="Calibri"/>
              <a:sym typeface="Calibri"/>
            </a:endParaRPr>
          </a:p>
        </p:txBody>
      </p:sp>
      <p:sp>
        <p:nvSpPr>
          <p:cNvPr id="169" name="Google Shape;169;p12"/>
          <p:cNvSpPr/>
          <p:nvPr/>
        </p:nvSpPr>
        <p:spPr>
          <a:xfrm>
            <a:off x="457200" y="3904488"/>
            <a:ext cx="3474720" cy="50292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2"/>
          <p:cNvSpPr/>
          <p:nvPr/>
        </p:nvSpPr>
        <p:spPr>
          <a:xfrm>
            <a:off x="4160520" y="3904488"/>
            <a:ext cx="7589520" cy="502920"/>
          </a:xfrm>
          <a:prstGeom prst="rect">
            <a:avLst/>
          </a:prstGeom>
          <a:solidFill>
            <a:srgbClr val="15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
          <p:cNvSpPr/>
          <p:nvPr/>
        </p:nvSpPr>
        <p:spPr>
          <a:xfrm>
            <a:off x="566928" y="3977640"/>
            <a:ext cx="3246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400"/>
              <a:buFont typeface="Calibri"/>
              <a:buNone/>
            </a:pPr>
            <a:r>
              <a:rPr b="1" i="0" lang="en-US" sz="1400" u="none" cap="none" strike="noStrike">
                <a:solidFill>
                  <a:srgbClr val="F4A261"/>
                </a:solidFill>
                <a:latin typeface="Calibri"/>
                <a:ea typeface="Calibri"/>
                <a:cs typeface="Calibri"/>
                <a:sym typeface="Calibri"/>
              </a:rPr>
              <a:t>Privacy-tool use</a:t>
            </a:r>
            <a:endParaRPr b="0" i="0" sz="1400" u="none" cap="none" strike="noStrike">
              <a:solidFill>
                <a:schemeClr val="dk1"/>
              </a:solidFill>
              <a:latin typeface="Calibri"/>
              <a:ea typeface="Calibri"/>
              <a:cs typeface="Calibri"/>
              <a:sym typeface="Calibri"/>
            </a:endParaRPr>
          </a:p>
        </p:txBody>
      </p:sp>
      <p:sp>
        <p:nvSpPr>
          <p:cNvPr id="172" name="Google Shape;172;p12"/>
          <p:cNvSpPr/>
          <p:nvPr/>
        </p:nvSpPr>
        <p:spPr>
          <a:xfrm>
            <a:off x="4297680" y="39776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VPN and Tor browser detected on corporate network</a:t>
            </a:r>
            <a:endParaRPr b="0" i="0" sz="1400" u="none" cap="none" strike="noStrike">
              <a:solidFill>
                <a:schemeClr val="dk1"/>
              </a:solidFill>
              <a:latin typeface="Calibri"/>
              <a:ea typeface="Calibri"/>
              <a:cs typeface="Calibri"/>
              <a:sym typeface="Calibri"/>
            </a:endParaRPr>
          </a:p>
        </p:txBody>
      </p:sp>
      <p:sp>
        <p:nvSpPr>
          <p:cNvPr id="173" name="Google Shape;173;p12"/>
          <p:cNvSpPr/>
          <p:nvPr/>
        </p:nvSpPr>
        <p:spPr>
          <a:xfrm>
            <a:off x="457200" y="4517136"/>
            <a:ext cx="3474720" cy="50292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2"/>
          <p:cNvSpPr/>
          <p:nvPr/>
        </p:nvSpPr>
        <p:spPr>
          <a:xfrm>
            <a:off x="4160520" y="4517136"/>
            <a:ext cx="7589520" cy="502920"/>
          </a:xfrm>
          <a:prstGeom prst="rect">
            <a:avLst/>
          </a:prstGeom>
          <a:solidFill>
            <a:srgbClr val="15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2"/>
          <p:cNvSpPr/>
          <p:nvPr/>
        </p:nvSpPr>
        <p:spPr>
          <a:xfrm>
            <a:off x="566928" y="4590288"/>
            <a:ext cx="3246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400"/>
              <a:buFont typeface="Calibri"/>
              <a:buNone/>
            </a:pPr>
            <a:r>
              <a:rPr b="1" i="0" lang="en-US" sz="1400" u="none" cap="none" strike="noStrike">
                <a:solidFill>
                  <a:srgbClr val="F4A261"/>
                </a:solidFill>
                <a:latin typeface="Calibri"/>
                <a:ea typeface="Calibri"/>
                <a:cs typeface="Calibri"/>
                <a:sym typeface="Calibri"/>
              </a:rPr>
              <a:t>Virtual machines</a:t>
            </a:r>
            <a:endParaRPr b="0" i="0" sz="1400" u="none" cap="none" strike="noStrike">
              <a:solidFill>
                <a:schemeClr val="dk1"/>
              </a:solidFill>
              <a:latin typeface="Calibri"/>
              <a:ea typeface="Calibri"/>
              <a:cs typeface="Calibri"/>
              <a:sym typeface="Calibri"/>
            </a:endParaRPr>
          </a:p>
        </p:txBody>
      </p:sp>
      <p:sp>
        <p:nvSpPr>
          <p:cNvPr id="176" name="Google Shape;176;p12"/>
          <p:cNvSpPr/>
          <p:nvPr/>
        </p:nvSpPr>
        <p:spPr>
          <a:xfrm>
            <a:off x="4297680" y="4590288"/>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Multiple VMs created on personal machine tied to corporate account</a:t>
            </a:r>
            <a:endParaRPr b="0" i="0" sz="1400" u="none" cap="none" strike="noStrike">
              <a:solidFill>
                <a:schemeClr val="dk1"/>
              </a:solidFill>
              <a:latin typeface="Calibri"/>
              <a:ea typeface="Calibri"/>
              <a:cs typeface="Calibri"/>
              <a:sym typeface="Calibri"/>
            </a:endParaRPr>
          </a:p>
        </p:txBody>
      </p:sp>
      <p:sp>
        <p:nvSpPr>
          <p:cNvPr id="177" name="Google Shape;177;p12"/>
          <p:cNvSpPr/>
          <p:nvPr/>
        </p:nvSpPr>
        <p:spPr>
          <a:xfrm>
            <a:off x="457200" y="5129784"/>
            <a:ext cx="3474720" cy="50292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2"/>
          <p:cNvSpPr/>
          <p:nvPr/>
        </p:nvSpPr>
        <p:spPr>
          <a:xfrm>
            <a:off x="4160520" y="5129784"/>
            <a:ext cx="7589520" cy="502920"/>
          </a:xfrm>
          <a:prstGeom prst="rect">
            <a:avLst/>
          </a:prstGeom>
          <a:solidFill>
            <a:srgbClr val="15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2"/>
          <p:cNvSpPr/>
          <p:nvPr/>
        </p:nvSpPr>
        <p:spPr>
          <a:xfrm>
            <a:off x="566928" y="5202936"/>
            <a:ext cx="3246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400"/>
              <a:buFont typeface="Calibri"/>
              <a:buNone/>
            </a:pPr>
            <a:r>
              <a:rPr b="1" i="0" lang="en-US" sz="1400" u="none" cap="none" strike="noStrike">
                <a:solidFill>
                  <a:srgbClr val="F4A261"/>
                </a:solidFill>
                <a:latin typeface="Calibri"/>
                <a:ea typeface="Calibri"/>
                <a:cs typeface="Calibri"/>
                <a:sym typeface="Calibri"/>
              </a:rPr>
              <a:t>Network scanning</a:t>
            </a:r>
            <a:endParaRPr b="0" i="0" sz="1400" u="none" cap="none" strike="noStrike">
              <a:solidFill>
                <a:schemeClr val="dk1"/>
              </a:solidFill>
              <a:latin typeface="Calibri"/>
              <a:ea typeface="Calibri"/>
              <a:cs typeface="Calibri"/>
              <a:sym typeface="Calibri"/>
            </a:endParaRPr>
          </a:p>
        </p:txBody>
      </p:sp>
      <p:sp>
        <p:nvSpPr>
          <p:cNvPr id="180" name="Google Shape;180;p12"/>
          <p:cNvSpPr/>
          <p:nvPr/>
        </p:nvSpPr>
        <p:spPr>
          <a:xfrm>
            <a:off x="4297680" y="5202936"/>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Nmap-style port scan activity detected on the internal network</a:t>
            </a:r>
            <a:endParaRPr b="0" i="0" sz="1400" u="none" cap="none" strike="noStrike">
              <a:solidFill>
                <a:schemeClr val="dk1"/>
              </a:solidFill>
              <a:latin typeface="Calibri"/>
              <a:ea typeface="Calibri"/>
              <a:cs typeface="Calibri"/>
              <a:sym typeface="Calibri"/>
            </a:endParaRPr>
          </a:p>
        </p:txBody>
      </p:sp>
      <p:sp>
        <p:nvSpPr>
          <p:cNvPr id="181" name="Google Shape;181;p12"/>
          <p:cNvSpPr/>
          <p:nvPr/>
        </p:nvSpPr>
        <p:spPr>
          <a:xfrm>
            <a:off x="457200" y="5742432"/>
            <a:ext cx="3474720" cy="50292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2"/>
          <p:cNvSpPr/>
          <p:nvPr/>
        </p:nvSpPr>
        <p:spPr>
          <a:xfrm>
            <a:off x="4160520" y="5742432"/>
            <a:ext cx="7589520" cy="502920"/>
          </a:xfrm>
          <a:prstGeom prst="rect">
            <a:avLst/>
          </a:prstGeom>
          <a:solidFill>
            <a:srgbClr val="15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2"/>
          <p:cNvSpPr/>
          <p:nvPr/>
        </p:nvSpPr>
        <p:spPr>
          <a:xfrm>
            <a:off x="566928" y="5815584"/>
            <a:ext cx="3246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400"/>
              <a:buFont typeface="Calibri"/>
              <a:buNone/>
            </a:pPr>
            <a:r>
              <a:rPr b="1" i="0" lang="en-US" sz="1400" u="none" cap="none" strike="noStrike">
                <a:solidFill>
                  <a:srgbClr val="F4A261"/>
                </a:solidFill>
                <a:latin typeface="Calibri"/>
                <a:ea typeface="Calibri"/>
                <a:cs typeface="Calibri"/>
                <a:sym typeface="Calibri"/>
              </a:rPr>
              <a:t>Downloading resources</a:t>
            </a:r>
            <a:endParaRPr b="0" i="0" sz="1400" u="none" cap="none" strike="noStrike">
              <a:solidFill>
                <a:schemeClr val="dk1"/>
              </a:solidFill>
              <a:latin typeface="Calibri"/>
              <a:ea typeface="Calibri"/>
              <a:cs typeface="Calibri"/>
              <a:sym typeface="Calibri"/>
            </a:endParaRPr>
          </a:p>
        </p:txBody>
      </p:sp>
      <p:sp>
        <p:nvSpPr>
          <p:cNvPr id="184" name="Google Shape;184;p12"/>
          <p:cNvSpPr/>
          <p:nvPr/>
        </p:nvSpPr>
        <p:spPr>
          <a:xfrm>
            <a:off x="4297680" y="5815584"/>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Large volume of cybersecurity tools, documentation, and exploit databases downloaded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8090"/>
        </a:solidFill>
      </p:bgPr>
    </p:bg>
    <p:spTree>
      <p:nvGrpSpPr>
        <p:cNvPr id="189" name="Shape 189"/>
        <p:cNvGrpSpPr/>
        <p:nvPr/>
      </p:nvGrpSpPr>
      <p:grpSpPr>
        <a:xfrm>
          <a:off x="0" y="0"/>
          <a:ext cx="0" cy="0"/>
          <a:chOff x="0" y="0"/>
          <a:chExt cx="0" cy="0"/>
        </a:xfrm>
      </p:grpSpPr>
      <p:sp>
        <p:nvSpPr>
          <p:cNvPr id="190" name="Google Shape;190;p13"/>
          <p:cNvSpPr/>
          <p:nvPr/>
        </p:nvSpPr>
        <p:spPr>
          <a:xfrm>
            <a:off x="548640" y="137160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800"/>
              <a:buFont typeface="Calibri"/>
              <a:buNone/>
            </a:pPr>
            <a:r>
              <a:rPr b="1" i="0" lang="en-US" sz="1800" u="none" cap="none" strike="noStrike">
                <a:solidFill>
                  <a:srgbClr val="0D1B2A"/>
                </a:solidFill>
                <a:latin typeface="Calibri"/>
                <a:ea typeface="Calibri"/>
                <a:cs typeface="Calibri"/>
                <a:sym typeface="Calibri"/>
              </a:rPr>
              <a:t>SECTION 3</a:t>
            </a:r>
            <a:endParaRPr b="0" i="0" sz="1800" u="none" cap="none" strike="noStrike">
              <a:solidFill>
                <a:schemeClr val="dk1"/>
              </a:solidFill>
              <a:latin typeface="Calibri"/>
              <a:ea typeface="Calibri"/>
              <a:cs typeface="Calibri"/>
              <a:sym typeface="Calibri"/>
            </a:endParaRPr>
          </a:p>
        </p:txBody>
      </p:sp>
      <p:sp>
        <p:nvSpPr>
          <p:cNvPr id="191" name="Google Shape;191;p13"/>
          <p:cNvSpPr/>
          <p:nvPr/>
        </p:nvSpPr>
        <p:spPr>
          <a:xfrm>
            <a:off x="548640" y="1920240"/>
            <a:ext cx="10972800" cy="1645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AI Threat Detection,</a:t>
            </a:r>
            <a:endParaRPr b="0" i="0" sz="4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Bias &amp; Human Oversight</a:t>
            </a:r>
            <a:endParaRPr b="0" i="0" sz="4400" u="none" cap="none" strike="noStrike">
              <a:solidFill>
                <a:schemeClr val="dk1"/>
              </a:solidFill>
              <a:latin typeface="Calibri"/>
              <a:ea typeface="Calibri"/>
              <a:cs typeface="Calibri"/>
              <a:sym typeface="Calibri"/>
            </a:endParaRPr>
          </a:p>
        </p:txBody>
      </p:sp>
      <p:sp>
        <p:nvSpPr>
          <p:cNvPr id="192" name="Google Shape;192;p13"/>
          <p:cNvSpPr/>
          <p:nvPr/>
        </p:nvSpPr>
        <p:spPr>
          <a:xfrm>
            <a:off x="548640" y="3657600"/>
            <a:ext cx="109728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2000"/>
              <a:buFont typeface="Calibri"/>
              <a:buNone/>
            </a:pPr>
            <a:r>
              <a:rPr b="0" i="0" lang="en-US" sz="2000" u="none" cap="none" strike="noStrike">
                <a:solidFill>
                  <a:srgbClr val="0D1B2A"/>
                </a:solidFill>
                <a:latin typeface="Calibri"/>
                <a:ea typeface="Calibri"/>
                <a:cs typeface="Calibri"/>
                <a:sym typeface="Calibri"/>
              </a:rPr>
              <a:t>Understanding what the machine sees — and what it misses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97" name="Shape 197"/>
        <p:cNvGrpSpPr/>
        <p:nvPr/>
      </p:nvGrpSpPr>
      <p:grpSpPr>
        <a:xfrm>
          <a:off x="0" y="0"/>
          <a:ext cx="0" cy="0"/>
          <a:chOff x="0" y="0"/>
          <a:chExt cx="0" cy="0"/>
        </a:xfrm>
      </p:grpSpPr>
      <p:sp>
        <p:nvSpPr>
          <p:cNvPr id="198" name="Google Shape;198;p14"/>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How AI-Assisted Threat Detection Works</a:t>
            </a:r>
            <a:endParaRPr b="0" i="0" sz="2800" u="none" cap="none" strike="noStrike">
              <a:solidFill>
                <a:schemeClr val="dk1"/>
              </a:solidFill>
              <a:latin typeface="Calibri"/>
              <a:ea typeface="Calibri"/>
              <a:cs typeface="Calibri"/>
              <a:sym typeface="Calibri"/>
            </a:endParaRPr>
          </a:p>
        </p:txBody>
      </p:sp>
      <p:sp>
        <p:nvSpPr>
          <p:cNvPr id="199" name="Google Shape;199;p14"/>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a:off x="457200" y="1097280"/>
            <a:ext cx="11247120" cy="5394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Behavioral Baseline Analysis</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System establishes a "normal" behavioral profile for each user over time</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Flags deviations from baseline: unusual times, volumes, destinations, tools</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Machine Learning Pattern Matching</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Model is trained on data from known malicious insiders (historical cases)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Looks for clusters of behaviors that resemble past threat patterns</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Risk Scoring</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Individual behaviors generate risk scores; scores aggregate into an alert</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High-confidence alerts trigger human review — or automated response</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E63946"/>
              </a:buClr>
              <a:buSzPts val="1600"/>
              <a:buFont typeface="Calibri"/>
              <a:buNone/>
            </a:pPr>
            <a:r>
              <a:rPr b="1" i="0" lang="en-US" sz="1600" u="none" cap="none" strike="noStrike">
                <a:solidFill>
                  <a:srgbClr val="E63946"/>
                </a:solidFill>
                <a:latin typeface="Calibri"/>
                <a:ea typeface="Calibri"/>
                <a:cs typeface="Calibri"/>
                <a:sym typeface="Calibri"/>
              </a:rPr>
              <a:t>Key Limitation:</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The system sees behavior — not intent, not context, not legitimate purpose</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05" name="Shape 205"/>
        <p:cNvGrpSpPr/>
        <p:nvPr/>
      </p:nvGrpSpPr>
      <p:grpSpPr>
        <a:xfrm>
          <a:off x="0" y="0"/>
          <a:ext cx="0" cy="0"/>
          <a:chOff x="0" y="0"/>
          <a:chExt cx="0" cy="0"/>
        </a:xfrm>
      </p:grpSpPr>
      <p:sp>
        <p:nvSpPr>
          <p:cNvPr id="206" name="Google Shape;206;p15"/>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Analyzing the Evidence: The Case</a:t>
            </a:r>
            <a:endParaRPr b="0" i="0" sz="2800" u="none" cap="none" strike="noStrike">
              <a:solidFill>
                <a:schemeClr val="dk1"/>
              </a:solidFill>
              <a:latin typeface="Calibri"/>
              <a:ea typeface="Calibri"/>
              <a:cs typeface="Calibri"/>
              <a:sym typeface="Calibri"/>
            </a:endParaRPr>
          </a:p>
        </p:txBody>
      </p:sp>
      <p:sp>
        <p:nvSpPr>
          <p:cNvPr id="207" name="Google Shape;207;p15"/>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a:off x="45720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The Machine's View</a:t>
            </a:r>
            <a:endParaRPr b="0" i="0" sz="1600" u="none" cap="none" strike="noStrike">
              <a:solidFill>
                <a:schemeClr val="dk1"/>
              </a:solidFill>
              <a:latin typeface="Calibri"/>
              <a:ea typeface="Calibri"/>
              <a:cs typeface="Calibri"/>
              <a:sym typeface="Calibri"/>
            </a:endParaRPr>
          </a:p>
        </p:txBody>
      </p:sp>
      <p:sp>
        <p:nvSpPr>
          <p:cNvPr id="209" name="Google Shape;209;p15"/>
          <p:cNvSpPr/>
          <p:nvPr/>
        </p:nvSpPr>
        <p:spPr>
          <a:xfrm>
            <a:off x="630936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The Human Context</a:t>
            </a:r>
            <a:endParaRPr b="0" i="0" sz="1600" u="none" cap="none" strike="noStrike">
              <a:solidFill>
                <a:schemeClr val="dk1"/>
              </a:solidFill>
              <a:latin typeface="Calibri"/>
              <a:ea typeface="Calibri"/>
              <a:cs typeface="Calibri"/>
              <a:sym typeface="Calibri"/>
            </a:endParaRPr>
          </a:p>
        </p:txBody>
      </p:sp>
      <p:sp>
        <p:nvSpPr>
          <p:cNvPr id="210" name="Google Shape;210;p15"/>
          <p:cNvSpPr/>
          <p:nvPr/>
        </p:nvSpPr>
        <p:spPr>
          <a:xfrm>
            <a:off x="45720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3946"/>
              </a:buClr>
              <a:buSzPts val="1600"/>
              <a:buFont typeface="Calibri"/>
              <a:buNone/>
            </a:pPr>
            <a:r>
              <a:rPr b="1" i="0" lang="en-US" sz="1600" u="none" cap="none" strike="noStrike">
                <a:solidFill>
                  <a:srgbClr val="E63946"/>
                </a:solidFill>
                <a:latin typeface="Calibri"/>
                <a:ea typeface="Calibri"/>
                <a:cs typeface="Calibri"/>
                <a:sym typeface="Calibri"/>
              </a:rPr>
              <a:t>What the System SEES</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Unusual login times → anomaly flagged</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Privacy tools (VPN, Tor) → policy violation potential</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Virtual machines → unauthorized environment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Network scanning → reconnaissance behavior</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Cybersecurity tool downloads → suspicious content</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System's Implicit Assumptions</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Normal employees don't do these things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These behaviors together = malicious intent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Past malicious insiders showed similar patterns</a:t>
            </a:r>
            <a:endParaRPr b="0" i="0" sz="1600" u="none" cap="none" strike="noStrike">
              <a:solidFill>
                <a:schemeClr val="dk1"/>
              </a:solidFill>
              <a:latin typeface="Calibri"/>
              <a:ea typeface="Calibri"/>
              <a:cs typeface="Calibri"/>
              <a:sym typeface="Calibri"/>
            </a:endParaRPr>
          </a:p>
        </p:txBody>
      </p:sp>
      <p:sp>
        <p:nvSpPr>
          <p:cNvPr id="211" name="Google Shape;211;p15"/>
          <p:cNvSpPr/>
          <p:nvPr/>
        </p:nvSpPr>
        <p:spPr>
          <a:xfrm>
            <a:off x="6172200" y="1097280"/>
            <a:ext cx="27432" cy="539496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p:nvPr/>
        </p:nvSpPr>
        <p:spPr>
          <a:xfrm>
            <a:off x="630936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What the System CANNOT SEE</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Student is enrolled in cybersecurity coursework</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Late-night logins = studying after a second job</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Privacy tools = coursework on privacy technology</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VMs = required lab environments for class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Network scanning = authorized class exercise</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Tool downloads = required course materials</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D166"/>
              </a:buClr>
              <a:buSzPts val="1500"/>
              <a:buFont typeface="Calibri"/>
              <a:buNone/>
            </a:pPr>
            <a:r>
              <a:rPr b="1" i="0" lang="en-US" sz="1500" u="none" cap="none" strike="noStrike">
                <a:solidFill>
                  <a:srgbClr val="FFD166"/>
                </a:solidFill>
                <a:latin typeface="Calibri"/>
                <a:ea typeface="Calibri"/>
                <a:cs typeface="Calibri"/>
                <a:sym typeface="Calibri"/>
              </a:rPr>
              <a:t>Missing Information</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Has the employee disclosed their coursework?</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Is there an acceptable use policy for lab work?</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What does the employee's manager know?</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17" name="Shape 217"/>
        <p:cNvGrpSpPr/>
        <p:nvPr/>
      </p:nvGrpSpPr>
      <p:grpSpPr>
        <a:xfrm>
          <a:off x="0" y="0"/>
          <a:ext cx="0" cy="0"/>
          <a:chOff x="0" y="0"/>
          <a:chExt cx="0" cy="0"/>
        </a:xfrm>
      </p:grpSpPr>
      <p:sp>
        <p:nvSpPr>
          <p:cNvPr id="218" name="Google Shape;218;p16"/>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False Positives: What Are the Costs?</a:t>
            </a:r>
            <a:endParaRPr b="0" i="0" sz="2800" u="none" cap="none" strike="noStrike">
              <a:solidFill>
                <a:schemeClr val="dk1"/>
              </a:solidFill>
              <a:latin typeface="Calibri"/>
              <a:ea typeface="Calibri"/>
              <a:cs typeface="Calibri"/>
              <a:sym typeface="Calibri"/>
            </a:endParaRPr>
          </a:p>
        </p:txBody>
      </p:sp>
      <p:sp>
        <p:nvSpPr>
          <p:cNvPr id="219" name="Google Shape;219;p16"/>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p:cNvSpPr/>
          <p:nvPr/>
        </p:nvSpPr>
        <p:spPr>
          <a:xfrm>
            <a:off x="45720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Human Harm</a:t>
            </a:r>
            <a:endParaRPr b="0" i="0" sz="1600" u="none" cap="none" strike="noStrike">
              <a:solidFill>
                <a:schemeClr val="dk1"/>
              </a:solidFill>
              <a:latin typeface="Calibri"/>
              <a:ea typeface="Calibri"/>
              <a:cs typeface="Calibri"/>
              <a:sym typeface="Calibri"/>
            </a:endParaRPr>
          </a:p>
        </p:txBody>
      </p:sp>
      <p:sp>
        <p:nvSpPr>
          <p:cNvPr id="221" name="Google Shape;221;p16"/>
          <p:cNvSpPr/>
          <p:nvPr/>
        </p:nvSpPr>
        <p:spPr>
          <a:xfrm>
            <a:off x="630936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Organizational &amp; Systemic Harm</a:t>
            </a:r>
            <a:endParaRPr b="0" i="0" sz="1600" u="none" cap="none" strike="noStrike">
              <a:solidFill>
                <a:schemeClr val="dk1"/>
              </a:solidFill>
              <a:latin typeface="Calibri"/>
              <a:ea typeface="Calibri"/>
              <a:cs typeface="Calibri"/>
              <a:sym typeface="Calibri"/>
            </a:endParaRPr>
          </a:p>
        </p:txBody>
      </p:sp>
      <p:sp>
        <p:nvSpPr>
          <p:cNvPr id="222" name="Google Shape;222;p16"/>
          <p:cNvSpPr/>
          <p:nvPr/>
        </p:nvSpPr>
        <p:spPr>
          <a:xfrm>
            <a:off x="45720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3946"/>
              </a:buClr>
              <a:buSzPts val="1600"/>
              <a:buFont typeface="Calibri"/>
              <a:buNone/>
            </a:pPr>
            <a:r>
              <a:rPr b="1" i="0" lang="en-US" sz="1600" u="none" cap="none" strike="noStrike">
                <a:solidFill>
                  <a:srgbClr val="E63946"/>
                </a:solidFill>
                <a:latin typeface="Calibri"/>
                <a:ea typeface="Calibri"/>
                <a:cs typeface="Calibri"/>
                <a:sym typeface="Calibri"/>
              </a:rPr>
              <a:t>False Positive Defined</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System flags a person as a threat when they are not one</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In this case: a student doing legitimate coursework</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E63946"/>
              </a:buClr>
              <a:buSzPts val="1600"/>
              <a:buFont typeface="Calibri"/>
              <a:buNone/>
            </a:pPr>
            <a:r>
              <a:rPr b="1" i="0" lang="en-US" sz="1600" u="none" cap="none" strike="noStrike">
                <a:solidFill>
                  <a:srgbClr val="E63946"/>
                </a:solidFill>
                <a:latin typeface="Calibri"/>
                <a:ea typeface="Calibri"/>
                <a:cs typeface="Calibri"/>
                <a:sym typeface="Calibri"/>
              </a:rPr>
              <a:t>Costs to the Individual</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Wrongful termination or disciplinary action</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Reputational damage — "suspected of insider threat"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Psychological harm, loss of trust in employer</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Legal exposure even if ultimately cleared</a:t>
            </a:r>
            <a:endParaRPr b="0" i="0" sz="1600" u="none" cap="none" strike="noStrike">
              <a:solidFill>
                <a:schemeClr val="dk1"/>
              </a:solidFill>
              <a:latin typeface="Calibri"/>
              <a:ea typeface="Calibri"/>
              <a:cs typeface="Calibri"/>
              <a:sym typeface="Calibri"/>
            </a:endParaRPr>
          </a:p>
        </p:txBody>
      </p:sp>
      <p:sp>
        <p:nvSpPr>
          <p:cNvPr id="223" name="Google Shape;223;p16"/>
          <p:cNvSpPr/>
          <p:nvPr/>
        </p:nvSpPr>
        <p:spPr>
          <a:xfrm>
            <a:off x="6172200" y="1097280"/>
            <a:ext cx="27432" cy="539496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
          <p:cNvSpPr/>
          <p:nvPr/>
        </p:nvSpPr>
        <p:spPr>
          <a:xfrm>
            <a:off x="630936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Costs to the Organization</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Legal liability for wrongful action against employee</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Loss of a skilled cybersecurity professional</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Erosion of employee trust in security programs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Regulatory and HR consequences</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Systemic Costs</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Alert fatigue — analysts stop trusting the system</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Chilling effect on legitimate security education</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Undermines confidence in AI-assisted security programs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29" name="Shape 229"/>
        <p:cNvGrpSpPr/>
        <p:nvPr/>
      </p:nvGrpSpPr>
      <p:grpSpPr>
        <a:xfrm>
          <a:off x="0" y="0"/>
          <a:ext cx="0" cy="0"/>
          <a:chOff x="0" y="0"/>
          <a:chExt cx="0" cy="0"/>
        </a:xfrm>
      </p:grpSpPr>
      <p:sp>
        <p:nvSpPr>
          <p:cNvPr id="230" name="Google Shape;230;p17"/>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False Negatives: The Other Side of the Equation</a:t>
            </a:r>
            <a:endParaRPr b="0" i="0" sz="2800" u="none" cap="none" strike="noStrike">
              <a:solidFill>
                <a:schemeClr val="dk1"/>
              </a:solidFill>
              <a:latin typeface="Calibri"/>
              <a:ea typeface="Calibri"/>
              <a:cs typeface="Calibri"/>
              <a:sym typeface="Calibri"/>
            </a:endParaRPr>
          </a:p>
        </p:txBody>
      </p:sp>
      <p:sp>
        <p:nvSpPr>
          <p:cNvPr id="231" name="Google Shape;231;p17"/>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7"/>
          <p:cNvSpPr/>
          <p:nvPr/>
        </p:nvSpPr>
        <p:spPr>
          <a:xfrm>
            <a:off x="45720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The Risk of Missing a Real Threat</a:t>
            </a:r>
            <a:endParaRPr b="0" i="0" sz="1600" u="none" cap="none" strike="noStrike">
              <a:solidFill>
                <a:schemeClr val="dk1"/>
              </a:solidFill>
              <a:latin typeface="Calibri"/>
              <a:ea typeface="Calibri"/>
              <a:cs typeface="Calibri"/>
              <a:sym typeface="Calibri"/>
            </a:endParaRPr>
          </a:p>
        </p:txBody>
      </p:sp>
      <p:sp>
        <p:nvSpPr>
          <p:cNvPr id="233" name="Google Shape;233;p17"/>
          <p:cNvSpPr/>
          <p:nvPr/>
        </p:nvSpPr>
        <p:spPr>
          <a:xfrm>
            <a:off x="630936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Why the Tradeoff Is Ethical, Not Technical</a:t>
            </a:r>
            <a:endParaRPr b="0" i="0" sz="1600" u="none" cap="none" strike="noStrike">
              <a:solidFill>
                <a:schemeClr val="dk1"/>
              </a:solidFill>
              <a:latin typeface="Calibri"/>
              <a:ea typeface="Calibri"/>
              <a:cs typeface="Calibri"/>
              <a:sym typeface="Calibri"/>
            </a:endParaRPr>
          </a:p>
        </p:txBody>
      </p:sp>
      <p:sp>
        <p:nvSpPr>
          <p:cNvPr id="234" name="Google Shape;234;p17"/>
          <p:cNvSpPr/>
          <p:nvPr/>
        </p:nvSpPr>
        <p:spPr>
          <a:xfrm>
            <a:off x="45720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False Negative Defined</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System fails to flag a genuine insider threat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The threat goes undetected — and unaddressed</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What can happen?</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Data exfiltration: sensitive records, IP, or credentials stolen</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Sabotage of critical systems or data integrity</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Cascading harm to customers, partners, or the public</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Regulatory fines, civil liability, reputational destruction</a:t>
            </a:r>
            <a:endParaRPr b="0" i="0" sz="1600" u="none" cap="none" strike="noStrike">
              <a:solidFill>
                <a:schemeClr val="dk1"/>
              </a:solidFill>
              <a:latin typeface="Calibri"/>
              <a:ea typeface="Calibri"/>
              <a:cs typeface="Calibri"/>
              <a:sym typeface="Calibri"/>
            </a:endParaRPr>
          </a:p>
        </p:txBody>
      </p:sp>
      <p:sp>
        <p:nvSpPr>
          <p:cNvPr id="235" name="Google Shape;235;p17"/>
          <p:cNvSpPr/>
          <p:nvPr/>
        </p:nvSpPr>
        <p:spPr>
          <a:xfrm>
            <a:off x="6172200" y="1097280"/>
            <a:ext cx="27432" cy="539496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7"/>
          <p:cNvSpPr/>
          <p:nvPr/>
        </p:nvSpPr>
        <p:spPr>
          <a:xfrm>
            <a:off x="630936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D166"/>
              </a:buClr>
              <a:buSzPts val="1600"/>
              <a:buFont typeface="Calibri"/>
              <a:buNone/>
            </a:pPr>
            <a:r>
              <a:rPr b="1" i="0" lang="en-US" sz="1600" u="none" cap="none" strike="noStrike">
                <a:solidFill>
                  <a:srgbClr val="FFD166"/>
                </a:solidFill>
                <a:latin typeface="Calibri"/>
                <a:ea typeface="Calibri"/>
                <a:cs typeface="Calibri"/>
                <a:sym typeface="Calibri"/>
              </a:rPr>
              <a:t>The Dilemma</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Reducing false positives (more lenient threshold) → more false negatives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Reducing false negatives (stricter threshold) → more false positives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There is no perfect system — only tradeoffs</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This is why human judgment matters:</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The AI generates an alert; humans must contextualize it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The organization's risk tolerance shapes the threshold</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Ethics guides what we do with that threshold decision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41" name="Shape 241"/>
        <p:cNvGrpSpPr/>
        <p:nvPr/>
      </p:nvGrpSpPr>
      <p:grpSpPr>
        <a:xfrm>
          <a:off x="0" y="0"/>
          <a:ext cx="0" cy="0"/>
          <a:chOff x="0" y="0"/>
          <a:chExt cx="0" cy="0"/>
        </a:xfrm>
      </p:grpSpPr>
      <p:sp>
        <p:nvSpPr>
          <p:cNvPr id="242" name="Google Shape;242;p18"/>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Bias and Assumptions in AI Threat Detection</a:t>
            </a:r>
            <a:endParaRPr b="0" i="0" sz="2800" u="none" cap="none" strike="noStrike">
              <a:solidFill>
                <a:schemeClr val="dk1"/>
              </a:solidFill>
              <a:latin typeface="Calibri"/>
              <a:ea typeface="Calibri"/>
              <a:cs typeface="Calibri"/>
              <a:sym typeface="Calibri"/>
            </a:endParaRPr>
          </a:p>
        </p:txBody>
      </p:sp>
      <p:sp>
        <p:nvSpPr>
          <p:cNvPr id="243" name="Google Shape;243;p18"/>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p:nvPr/>
        </p:nvSpPr>
        <p:spPr>
          <a:xfrm>
            <a:off x="457200" y="1097280"/>
            <a:ext cx="11247120" cy="5394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3946"/>
              </a:buClr>
              <a:buSzPts val="1700"/>
              <a:buFont typeface="Calibri"/>
              <a:buNone/>
            </a:pPr>
            <a:r>
              <a:rPr b="1" i="0" lang="en-US" sz="1700" u="none" cap="none" strike="noStrike">
                <a:solidFill>
                  <a:srgbClr val="E63946"/>
                </a:solidFill>
                <a:latin typeface="Calibri"/>
                <a:ea typeface="Calibri"/>
                <a:cs typeface="Calibri"/>
                <a:sym typeface="Calibri"/>
              </a:rPr>
              <a:t>Where does bias enter?</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Training data: if known malicious insiders were disproportionately from certain groups, the model may over-flag those groups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Baseline assumption: "normal" is defined by the majority — unusual behavior is flagged even when it reflects legitimate difference</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Label bias: who gets called an insider threat affects what the model learns</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4A261"/>
              </a:buClr>
              <a:buSzPts val="1700"/>
              <a:buFont typeface="Calibri"/>
              <a:buNone/>
            </a:pPr>
            <a:r>
              <a:rPr b="1" i="0" lang="en-US" sz="1700" u="none" cap="none" strike="noStrike">
                <a:solidFill>
                  <a:srgbClr val="F4A261"/>
                </a:solidFill>
                <a:latin typeface="Calibri"/>
                <a:ea typeface="Calibri"/>
                <a:cs typeface="Calibri"/>
                <a:sym typeface="Calibri"/>
              </a:rPr>
              <a:t>Assumptions embedded in this case's alert:</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Working late = suspicious (ignores second jobs, caregiving, different work styles)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Using privacy tools = hiding something (ignores privacy education, personal preference)</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Network scanning = attack reconnaissance (ignores authorized coursework)</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Key principle:</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The behaviors that look suspicious are often the same behaviors that characterize cybersecurity professionals learning their craft.</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49" name="Shape 249"/>
        <p:cNvGrpSpPr/>
        <p:nvPr/>
      </p:nvGrpSpPr>
      <p:grpSpPr>
        <a:xfrm>
          <a:off x="0" y="0"/>
          <a:ext cx="0" cy="0"/>
          <a:chOff x="0" y="0"/>
          <a:chExt cx="0" cy="0"/>
        </a:xfrm>
      </p:grpSpPr>
      <p:sp>
        <p:nvSpPr>
          <p:cNvPr id="250" name="Google Shape;250;p19"/>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Human Oversight: Why the Human Must Stay in the Loop</a:t>
            </a:r>
            <a:endParaRPr b="0" i="0" sz="2800" u="none" cap="none" strike="noStrike">
              <a:solidFill>
                <a:schemeClr val="dk1"/>
              </a:solidFill>
              <a:latin typeface="Calibri"/>
              <a:ea typeface="Calibri"/>
              <a:cs typeface="Calibri"/>
              <a:sym typeface="Calibri"/>
            </a:endParaRPr>
          </a:p>
        </p:txBody>
      </p:sp>
      <p:sp>
        <p:nvSpPr>
          <p:cNvPr id="251" name="Google Shape;251;p19"/>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457200" y="1097280"/>
            <a:ext cx="11247120" cy="5394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4A261"/>
              </a:buClr>
              <a:buSzPts val="1700"/>
              <a:buFont typeface="Calibri"/>
              <a:buNone/>
            </a:pPr>
            <a:r>
              <a:rPr b="1" i="0" lang="en-US" sz="1700" u="none" cap="none" strike="noStrike">
                <a:solidFill>
                  <a:srgbClr val="F4A261"/>
                </a:solidFill>
                <a:latin typeface="Calibri"/>
                <a:ea typeface="Calibri"/>
                <a:cs typeface="Calibri"/>
                <a:sym typeface="Calibri"/>
              </a:rPr>
              <a:t>The automation bias risk</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Automation bias: humans over-trust algorithmic outputs and under-apply their own judgment</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"The AI said so" becomes a substitute for critical thinking</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Automated action is not the same as automated decision</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Alert generation → automated (appropriate)</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Preliminary investigation → human-assisted (appropriate)</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Access revocation → requires human authorization (required)</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Termination, legal action, criminal referral → human decision with oversight (mandatory)</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EC4B6"/>
              </a:buClr>
              <a:buSzPts val="1700"/>
              <a:buFont typeface="Calibri"/>
              <a:buNone/>
            </a:pPr>
            <a:r>
              <a:rPr b="1" i="0" lang="en-US" sz="1700" u="none" cap="none" strike="noStrike">
                <a:solidFill>
                  <a:srgbClr val="2EC4B6"/>
                </a:solidFill>
                <a:latin typeface="Calibri"/>
                <a:ea typeface="Calibri"/>
                <a:cs typeface="Calibri"/>
                <a:sym typeface="Calibri"/>
              </a:rPr>
              <a:t>Human oversight functions:</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Context that AI cannot access (HR records, manager knowledge, employee disclosures)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Proportionality judgment (is this response commensurate with the risk?)</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Accountability — only humans can be held professionally and legally accountable</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57" name="Shape 257"/>
        <p:cNvGrpSpPr/>
        <p:nvPr/>
      </p:nvGrpSpPr>
      <p:grpSpPr>
        <a:xfrm>
          <a:off x="0" y="0"/>
          <a:ext cx="0" cy="0"/>
          <a:chOff x="0" y="0"/>
          <a:chExt cx="0" cy="0"/>
        </a:xfrm>
      </p:grpSpPr>
      <p:sp>
        <p:nvSpPr>
          <p:cNvPr id="258" name="Google Shape;258;p20"/>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2800"/>
              <a:buFont typeface="Cambria"/>
              <a:buNone/>
            </a:pPr>
            <a:r>
              <a:rPr b="1" i="0" lang="en-US" sz="2800" u="none" cap="none" strike="noStrike">
                <a:solidFill>
                  <a:srgbClr val="F4A261"/>
                </a:solidFill>
                <a:latin typeface="Cambria"/>
                <a:ea typeface="Cambria"/>
                <a:cs typeface="Cambria"/>
                <a:sym typeface="Cambria"/>
              </a:rPr>
              <a:t>Should Automated Detection Lead to Automated Action?</a:t>
            </a:r>
            <a:endParaRPr b="0" i="0" sz="2800" u="none" cap="none" strike="noStrike">
              <a:solidFill>
                <a:schemeClr val="dk1"/>
              </a:solidFill>
              <a:latin typeface="Calibri"/>
              <a:ea typeface="Calibri"/>
              <a:cs typeface="Calibri"/>
              <a:sym typeface="Calibri"/>
            </a:endParaRPr>
          </a:p>
        </p:txBody>
      </p:sp>
      <p:sp>
        <p:nvSpPr>
          <p:cNvPr id="259" name="Google Shape;259;p20"/>
          <p:cNvSpPr/>
          <p:nvPr/>
        </p:nvSpPr>
        <p:spPr>
          <a:xfrm>
            <a:off x="457200" y="868680"/>
            <a:ext cx="11247120" cy="27432"/>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
          <p:cNvSpPr/>
          <p:nvPr/>
        </p:nvSpPr>
        <p:spPr>
          <a:xfrm>
            <a:off x="457200" y="960120"/>
            <a:ext cx="11247120" cy="1645920"/>
          </a:xfrm>
          <a:prstGeom prst="rect">
            <a:avLst/>
          </a:prstGeom>
          <a:solidFill>
            <a:srgbClr val="1A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0"/>
          <p:cNvSpPr/>
          <p:nvPr/>
        </p:nvSpPr>
        <p:spPr>
          <a:xfrm>
            <a:off x="457200" y="960120"/>
            <a:ext cx="91440" cy="164592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0"/>
          <p:cNvSpPr/>
          <p:nvPr/>
        </p:nvSpPr>
        <p:spPr>
          <a:xfrm>
            <a:off x="685800" y="1005840"/>
            <a:ext cx="10881360" cy="1554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500"/>
              <a:buFont typeface="Calibri"/>
              <a:buNone/>
            </a:pPr>
            <a:r>
              <a:rPr b="0" i="1" lang="en-US" sz="1500" u="none" cap="none" strike="noStrike">
                <a:solidFill>
                  <a:srgbClr val="E8EDF2"/>
                </a:solidFill>
                <a:latin typeface="Calibri"/>
                <a:ea typeface="Calibri"/>
                <a:cs typeface="Calibri"/>
                <a:sym typeface="Calibri"/>
              </a:rPr>
              <a:t>The AI system is configured with an optional "auto-response" mode. When an insider threat alert reaches a 90% confidence level, the system can automatically revoke network access, disable login credentials, and notify HR — without any human review. Your organization is considering enabling this feature.</a:t>
            </a:r>
            <a:endParaRPr b="0" i="0" sz="1500" u="none" cap="none" strike="noStrike">
              <a:solidFill>
                <a:schemeClr val="dk1"/>
              </a:solidFill>
              <a:latin typeface="Calibri"/>
              <a:ea typeface="Calibri"/>
              <a:cs typeface="Calibri"/>
              <a:sym typeface="Calibri"/>
            </a:endParaRPr>
          </a:p>
        </p:txBody>
      </p:sp>
      <p:sp>
        <p:nvSpPr>
          <p:cNvPr id="263" name="Google Shape;263;p20"/>
          <p:cNvSpPr/>
          <p:nvPr/>
        </p:nvSpPr>
        <p:spPr>
          <a:xfrm>
            <a:off x="457200" y="2743200"/>
            <a:ext cx="11247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Discussion Questions</a:t>
            </a:r>
            <a:endParaRPr b="0" i="0" sz="1600" u="none" cap="none" strike="noStrike">
              <a:solidFill>
                <a:schemeClr val="dk1"/>
              </a:solidFill>
              <a:latin typeface="Calibri"/>
              <a:ea typeface="Calibri"/>
              <a:cs typeface="Calibri"/>
              <a:sym typeface="Calibri"/>
            </a:endParaRPr>
          </a:p>
        </p:txBody>
      </p:sp>
      <p:sp>
        <p:nvSpPr>
          <p:cNvPr id="264" name="Google Shape;264;p20"/>
          <p:cNvSpPr/>
          <p:nvPr/>
        </p:nvSpPr>
        <p:spPr>
          <a:xfrm>
            <a:off x="457200" y="3154680"/>
            <a:ext cx="11247120" cy="34747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What could go wrong if auto-response is enabled? What are the benefits?</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Who is accountable if a false positive leads to wrongful termination under auto-response?</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Is a 90% confidence threshold "good enough" for automated action? Why or why not?</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What human review process should occur before any action is taken — regardless of confidence level?</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What would the NIST AI RMF (Govern/Map/Measure/Manage) say about this design choice?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69" name="Shape 269"/>
        <p:cNvGrpSpPr/>
        <p:nvPr/>
      </p:nvGrpSpPr>
      <p:grpSpPr>
        <a:xfrm>
          <a:off x="0" y="0"/>
          <a:ext cx="0" cy="0"/>
          <a:chOff x="0" y="0"/>
          <a:chExt cx="0" cy="0"/>
        </a:xfrm>
      </p:grpSpPr>
      <p:sp>
        <p:nvSpPr>
          <p:cNvPr id="270" name="Google Shape;270;p21"/>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Professional Accountability: Who Owns the Decision?</a:t>
            </a:r>
            <a:endParaRPr b="0" i="0" sz="2800" u="none" cap="none" strike="noStrike">
              <a:solidFill>
                <a:schemeClr val="dk1"/>
              </a:solidFill>
              <a:latin typeface="Calibri"/>
              <a:ea typeface="Calibri"/>
              <a:cs typeface="Calibri"/>
              <a:sym typeface="Calibri"/>
            </a:endParaRPr>
          </a:p>
        </p:txBody>
      </p:sp>
      <p:sp>
        <p:nvSpPr>
          <p:cNvPr id="271" name="Google Shape;271;p21"/>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1"/>
          <p:cNvSpPr/>
          <p:nvPr/>
        </p:nvSpPr>
        <p:spPr>
          <a:xfrm>
            <a:off x="457200" y="1097280"/>
            <a:ext cx="11247120" cy="5394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The security analyst who acts on the alert</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Professional duty to investigate, not simply execute</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Code of ethics applies to how they treat the flagged employee</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The security manager who authorizes action</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Bears responsibility for decisions made under their authority</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Cannot delegate ethics to the algorithm</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The organization that deploys the AI</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Responsible for configuring appropriate thresholds and review processes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Liable for harm caused by the system operating as designed</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D166"/>
              </a:buClr>
              <a:buSzPts val="1600"/>
              <a:buFont typeface="Calibri"/>
              <a:buNone/>
            </a:pPr>
            <a:r>
              <a:rPr b="1" i="0" lang="en-US" sz="1600" u="none" cap="none" strike="noStrike">
                <a:solidFill>
                  <a:srgbClr val="FFD166"/>
                </a:solidFill>
                <a:latin typeface="Calibri"/>
                <a:ea typeface="Calibri"/>
                <a:cs typeface="Calibri"/>
                <a:sym typeface="Calibri"/>
              </a:rPr>
              <a:t>Critical principle:</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"The AI flagged it" is not a defense. Professionals remain accountable for decisions made with AI tools — just as a driver remains accountable when GPS leads them the wrong way.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8090"/>
        </a:solidFill>
      </p:bgPr>
    </p:bg>
    <p:spTree>
      <p:nvGrpSpPr>
        <p:cNvPr id="277" name="Shape 277"/>
        <p:cNvGrpSpPr/>
        <p:nvPr/>
      </p:nvGrpSpPr>
      <p:grpSpPr>
        <a:xfrm>
          <a:off x="0" y="0"/>
          <a:ext cx="0" cy="0"/>
          <a:chOff x="0" y="0"/>
          <a:chExt cx="0" cy="0"/>
        </a:xfrm>
      </p:grpSpPr>
      <p:sp>
        <p:nvSpPr>
          <p:cNvPr id="278" name="Google Shape;278;p22"/>
          <p:cNvSpPr/>
          <p:nvPr/>
        </p:nvSpPr>
        <p:spPr>
          <a:xfrm>
            <a:off x="548640" y="137160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800"/>
              <a:buFont typeface="Calibri"/>
              <a:buNone/>
            </a:pPr>
            <a:r>
              <a:rPr b="1" i="0" lang="en-US" sz="1800" u="none" cap="none" strike="noStrike">
                <a:solidFill>
                  <a:srgbClr val="0D1B2A"/>
                </a:solidFill>
                <a:latin typeface="Calibri"/>
                <a:ea typeface="Calibri"/>
                <a:cs typeface="Calibri"/>
                <a:sym typeface="Calibri"/>
              </a:rPr>
              <a:t>SECTION 4</a:t>
            </a:r>
            <a:endParaRPr b="0" i="0" sz="1800" u="none" cap="none" strike="noStrike">
              <a:solidFill>
                <a:schemeClr val="dk1"/>
              </a:solidFill>
              <a:latin typeface="Calibri"/>
              <a:ea typeface="Calibri"/>
              <a:cs typeface="Calibri"/>
              <a:sym typeface="Calibri"/>
            </a:endParaRPr>
          </a:p>
        </p:txBody>
      </p:sp>
      <p:sp>
        <p:nvSpPr>
          <p:cNvPr id="279" name="Google Shape;279;p22"/>
          <p:cNvSpPr/>
          <p:nvPr/>
        </p:nvSpPr>
        <p:spPr>
          <a:xfrm>
            <a:off x="548640" y="1920240"/>
            <a:ext cx="10972800" cy="1645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NIST AI Risk Management</a:t>
            </a:r>
            <a:endParaRPr b="0" i="0" sz="4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Framework &amp; CSF 2.0</a:t>
            </a:r>
            <a:endParaRPr b="0" i="0" sz="4400" u="none" cap="none" strike="noStrike">
              <a:solidFill>
                <a:schemeClr val="dk1"/>
              </a:solidFill>
              <a:latin typeface="Calibri"/>
              <a:ea typeface="Calibri"/>
              <a:cs typeface="Calibri"/>
              <a:sym typeface="Calibri"/>
            </a:endParaRPr>
          </a:p>
        </p:txBody>
      </p:sp>
      <p:sp>
        <p:nvSpPr>
          <p:cNvPr id="280" name="Google Shape;280;p22"/>
          <p:cNvSpPr/>
          <p:nvPr/>
        </p:nvSpPr>
        <p:spPr>
          <a:xfrm>
            <a:off x="548640" y="3657600"/>
            <a:ext cx="109728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2000"/>
              <a:buFont typeface="Calibri"/>
              <a:buNone/>
            </a:pPr>
            <a:r>
              <a:rPr b="0" i="0" lang="en-US" sz="2000" u="none" cap="none" strike="noStrike">
                <a:solidFill>
                  <a:srgbClr val="0D1B2A"/>
                </a:solidFill>
                <a:latin typeface="Calibri"/>
                <a:ea typeface="Calibri"/>
                <a:cs typeface="Calibri"/>
                <a:sym typeface="Calibri"/>
              </a:rPr>
              <a:t>Governance tools for AI-enabled cybersecurity</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85" name="Shape 285"/>
        <p:cNvGrpSpPr/>
        <p:nvPr/>
      </p:nvGrpSpPr>
      <p:grpSpPr>
        <a:xfrm>
          <a:off x="0" y="0"/>
          <a:ext cx="0" cy="0"/>
          <a:chOff x="0" y="0"/>
          <a:chExt cx="0" cy="0"/>
        </a:xfrm>
      </p:grpSpPr>
      <p:sp>
        <p:nvSpPr>
          <p:cNvPr id="286" name="Google Shape;286;p23"/>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600"/>
              <a:buFont typeface="Cambria"/>
              <a:buNone/>
            </a:pPr>
            <a:r>
              <a:rPr b="1" i="0" lang="en-US" sz="2600" u="none" cap="none" strike="noStrike">
                <a:solidFill>
                  <a:srgbClr val="00A896"/>
                </a:solidFill>
                <a:latin typeface="Cambria"/>
                <a:ea typeface="Cambria"/>
                <a:cs typeface="Cambria"/>
                <a:sym typeface="Cambria"/>
              </a:rPr>
              <a:t>NIST AI Risk Management Framework: Core Functions</a:t>
            </a:r>
            <a:endParaRPr b="0" i="0" sz="2600" u="none" cap="none" strike="noStrike">
              <a:solidFill>
                <a:schemeClr val="dk1"/>
              </a:solidFill>
              <a:latin typeface="Calibri"/>
              <a:ea typeface="Calibri"/>
              <a:cs typeface="Calibri"/>
              <a:sym typeface="Calibri"/>
            </a:endParaRPr>
          </a:p>
        </p:txBody>
      </p:sp>
      <p:sp>
        <p:nvSpPr>
          <p:cNvPr id="287" name="Google Shape;287;p23"/>
          <p:cNvSpPr/>
          <p:nvPr/>
        </p:nvSpPr>
        <p:spPr>
          <a:xfrm>
            <a:off x="457200" y="86868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3"/>
          <p:cNvSpPr/>
          <p:nvPr/>
        </p:nvSpPr>
        <p:spPr>
          <a:xfrm>
            <a:off x="457200" y="1051560"/>
            <a:ext cx="2697480" cy="539496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3"/>
          <p:cNvSpPr/>
          <p:nvPr/>
        </p:nvSpPr>
        <p:spPr>
          <a:xfrm>
            <a:off x="457200" y="1051560"/>
            <a:ext cx="2697480" cy="91440"/>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3"/>
          <p:cNvSpPr/>
          <p:nvPr/>
        </p:nvSpPr>
        <p:spPr>
          <a:xfrm>
            <a:off x="548640" y="1188720"/>
            <a:ext cx="25146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A896"/>
              </a:buClr>
              <a:buSzPts val="2600"/>
              <a:buFont typeface="Cambria"/>
              <a:buNone/>
            </a:pPr>
            <a:r>
              <a:rPr b="1" i="0" lang="en-US" sz="2600" u="none" cap="none" strike="noStrike">
                <a:solidFill>
                  <a:srgbClr val="00A896"/>
                </a:solidFill>
                <a:latin typeface="Cambria"/>
                <a:ea typeface="Cambria"/>
                <a:cs typeface="Cambria"/>
                <a:sym typeface="Cambria"/>
              </a:rPr>
              <a:t>GOVERN</a:t>
            </a:r>
            <a:endParaRPr b="0" i="0" sz="2600" u="none" cap="none" strike="noStrike">
              <a:solidFill>
                <a:schemeClr val="dk1"/>
              </a:solidFill>
              <a:latin typeface="Calibri"/>
              <a:ea typeface="Calibri"/>
              <a:cs typeface="Calibri"/>
              <a:sym typeface="Calibri"/>
            </a:endParaRPr>
          </a:p>
        </p:txBody>
      </p:sp>
      <p:sp>
        <p:nvSpPr>
          <p:cNvPr id="291" name="Google Shape;291;p23"/>
          <p:cNvSpPr/>
          <p:nvPr/>
        </p:nvSpPr>
        <p:spPr>
          <a:xfrm>
            <a:off x="640080" y="1828800"/>
            <a:ext cx="2331720" cy="27432"/>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a:off x="594360" y="1920240"/>
            <a:ext cx="2423160" cy="4389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Who is responsible?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What policies and oversight should exist?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Establish culture, accountability, and authority for AI risk.</a:t>
            </a:r>
            <a:endParaRPr b="0" i="0" sz="1400" u="none" cap="none" strike="noStrike">
              <a:solidFill>
                <a:schemeClr val="dk1"/>
              </a:solidFill>
              <a:latin typeface="Calibri"/>
              <a:ea typeface="Calibri"/>
              <a:cs typeface="Calibri"/>
              <a:sym typeface="Calibri"/>
            </a:endParaRPr>
          </a:p>
        </p:txBody>
      </p:sp>
      <p:sp>
        <p:nvSpPr>
          <p:cNvPr id="293" name="Google Shape;293;p23"/>
          <p:cNvSpPr/>
          <p:nvPr/>
        </p:nvSpPr>
        <p:spPr>
          <a:xfrm>
            <a:off x="3291840" y="1051560"/>
            <a:ext cx="2697480" cy="539496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3"/>
          <p:cNvSpPr/>
          <p:nvPr/>
        </p:nvSpPr>
        <p:spPr>
          <a:xfrm>
            <a:off x="3291840" y="1051560"/>
            <a:ext cx="2697480" cy="91440"/>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3"/>
          <p:cNvSpPr/>
          <p:nvPr/>
        </p:nvSpPr>
        <p:spPr>
          <a:xfrm>
            <a:off x="3383280" y="1188720"/>
            <a:ext cx="25146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D166"/>
              </a:buClr>
              <a:buSzPts val="2600"/>
              <a:buFont typeface="Cambria"/>
              <a:buNone/>
            </a:pPr>
            <a:r>
              <a:rPr b="1" i="0" lang="en-US" sz="2600" u="none" cap="none" strike="noStrike">
                <a:solidFill>
                  <a:srgbClr val="FFD166"/>
                </a:solidFill>
                <a:latin typeface="Cambria"/>
                <a:ea typeface="Cambria"/>
                <a:cs typeface="Cambria"/>
                <a:sym typeface="Cambria"/>
              </a:rPr>
              <a:t>MAP</a:t>
            </a:r>
            <a:endParaRPr b="0" i="0" sz="2600" u="none" cap="none" strike="noStrike">
              <a:solidFill>
                <a:schemeClr val="dk1"/>
              </a:solidFill>
              <a:latin typeface="Calibri"/>
              <a:ea typeface="Calibri"/>
              <a:cs typeface="Calibri"/>
              <a:sym typeface="Calibri"/>
            </a:endParaRPr>
          </a:p>
        </p:txBody>
      </p:sp>
      <p:sp>
        <p:nvSpPr>
          <p:cNvPr id="296" name="Google Shape;296;p23"/>
          <p:cNvSpPr/>
          <p:nvPr/>
        </p:nvSpPr>
        <p:spPr>
          <a:xfrm>
            <a:off x="3474720" y="1828800"/>
            <a:ext cx="2331720" cy="27432"/>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3"/>
          <p:cNvSpPr/>
          <p:nvPr/>
        </p:nvSpPr>
        <p:spPr>
          <a:xfrm>
            <a:off x="3429000" y="1920240"/>
            <a:ext cx="2423160" cy="4389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What is happening?</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Who could be affected?</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What could go wrong?</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Identify context, stakeholders, and risks.</a:t>
            </a:r>
            <a:endParaRPr b="0" i="0" sz="1400" u="none" cap="none" strike="noStrike">
              <a:solidFill>
                <a:schemeClr val="dk1"/>
              </a:solidFill>
              <a:latin typeface="Calibri"/>
              <a:ea typeface="Calibri"/>
              <a:cs typeface="Calibri"/>
              <a:sym typeface="Calibri"/>
            </a:endParaRPr>
          </a:p>
        </p:txBody>
      </p:sp>
      <p:sp>
        <p:nvSpPr>
          <p:cNvPr id="298" name="Google Shape;298;p23"/>
          <p:cNvSpPr/>
          <p:nvPr/>
        </p:nvSpPr>
        <p:spPr>
          <a:xfrm>
            <a:off x="6126480" y="1051560"/>
            <a:ext cx="2697480" cy="539496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6126480" y="1051560"/>
            <a:ext cx="2697480" cy="9144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
          <p:cNvSpPr/>
          <p:nvPr/>
        </p:nvSpPr>
        <p:spPr>
          <a:xfrm>
            <a:off x="6217920" y="1188720"/>
            <a:ext cx="25146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2600"/>
              <a:buFont typeface="Cambria"/>
              <a:buNone/>
            </a:pPr>
            <a:r>
              <a:rPr b="1" i="0" lang="en-US" sz="2600" u="none" cap="none" strike="noStrike">
                <a:solidFill>
                  <a:srgbClr val="F4A261"/>
                </a:solidFill>
                <a:latin typeface="Cambria"/>
                <a:ea typeface="Cambria"/>
                <a:cs typeface="Cambria"/>
                <a:sym typeface="Cambria"/>
              </a:rPr>
              <a:t>MEASURE</a:t>
            </a:r>
            <a:endParaRPr b="0" i="0" sz="2600" u="none" cap="none" strike="noStrike">
              <a:solidFill>
                <a:schemeClr val="dk1"/>
              </a:solidFill>
              <a:latin typeface="Calibri"/>
              <a:ea typeface="Calibri"/>
              <a:cs typeface="Calibri"/>
              <a:sym typeface="Calibri"/>
            </a:endParaRPr>
          </a:p>
        </p:txBody>
      </p:sp>
      <p:sp>
        <p:nvSpPr>
          <p:cNvPr id="301" name="Google Shape;301;p23"/>
          <p:cNvSpPr/>
          <p:nvPr/>
        </p:nvSpPr>
        <p:spPr>
          <a:xfrm>
            <a:off x="6309360" y="1828800"/>
            <a:ext cx="2331720" cy="27432"/>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3"/>
          <p:cNvSpPr/>
          <p:nvPr/>
        </p:nvSpPr>
        <p:spPr>
          <a:xfrm>
            <a:off x="6263640" y="1920240"/>
            <a:ext cx="2423160" cy="4389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How do we know if the system performs appropriately?</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Quantify, test, evaluate, and monitor AI risk.</a:t>
            </a:r>
            <a:endParaRPr b="0" i="0" sz="1400" u="none" cap="none" strike="noStrike">
              <a:solidFill>
                <a:schemeClr val="dk1"/>
              </a:solidFill>
              <a:latin typeface="Calibri"/>
              <a:ea typeface="Calibri"/>
              <a:cs typeface="Calibri"/>
              <a:sym typeface="Calibri"/>
            </a:endParaRPr>
          </a:p>
        </p:txBody>
      </p:sp>
      <p:sp>
        <p:nvSpPr>
          <p:cNvPr id="303" name="Google Shape;303;p23"/>
          <p:cNvSpPr/>
          <p:nvPr/>
        </p:nvSpPr>
        <p:spPr>
          <a:xfrm>
            <a:off x="8961120" y="1051560"/>
            <a:ext cx="2697480" cy="539496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3"/>
          <p:cNvSpPr/>
          <p:nvPr/>
        </p:nvSpPr>
        <p:spPr>
          <a:xfrm>
            <a:off x="8961120" y="1051560"/>
            <a:ext cx="2697480" cy="91440"/>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3"/>
          <p:cNvSpPr/>
          <p:nvPr/>
        </p:nvSpPr>
        <p:spPr>
          <a:xfrm>
            <a:off x="9052560" y="1188720"/>
            <a:ext cx="25146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C4B6"/>
              </a:buClr>
              <a:buSzPts val="2600"/>
              <a:buFont typeface="Cambria"/>
              <a:buNone/>
            </a:pPr>
            <a:r>
              <a:rPr b="1" i="0" lang="en-US" sz="2600" u="none" cap="none" strike="noStrike">
                <a:solidFill>
                  <a:srgbClr val="2EC4B6"/>
                </a:solidFill>
                <a:latin typeface="Cambria"/>
                <a:ea typeface="Cambria"/>
                <a:cs typeface="Cambria"/>
                <a:sym typeface="Cambria"/>
              </a:rPr>
              <a:t>MANAGE</a:t>
            </a:r>
            <a:endParaRPr b="0" i="0" sz="2600" u="none" cap="none" strike="noStrike">
              <a:solidFill>
                <a:schemeClr val="dk1"/>
              </a:solidFill>
              <a:latin typeface="Calibri"/>
              <a:ea typeface="Calibri"/>
              <a:cs typeface="Calibri"/>
              <a:sym typeface="Calibri"/>
            </a:endParaRPr>
          </a:p>
        </p:txBody>
      </p:sp>
      <p:sp>
        <p:nvSpPr>
          <p:cNvPr id="306" name="Google Shape;306;p23"/>
          <p:cNvSpPr/>
          <p:nvPr/>
        </p:nvSpPr>
        <p:spPr>
          <a:xfrm>
            <a:off x="9144000" y="1828800"/>
            <a:ext cx="2331720" cy="27432"/>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3"/>
          <p:cNvSpPr/>
          <p:nvPr/>
        </p:nvSpPr>
        <p:spPr>
          <a:xfrm>
            <a:off x="9098280" y="1920240"/>
            <a:ext cx="2423160" cy="4389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What should the organization do about identified risks?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2"/>
              </a:buClr>
              <a:buSzPts val="1400"/>
              <a:buFont typeface="Calibri"/>
              <a:buNone/>
            </a:pPr>
            <a:r>
              <a:rPr b="0" i="0" lang="en-US" sz="1400" u="none" cap="none" strike="noStrike">
                <a:solidFill>
                  <a:srgbClr val="E8EDF2"/>
                </a:solidFill>
                <a:latin typeface="Calibri"/>
                <a:ea typeface="Calibri"/>
                <a:cs typeface="Calibri"/>
                <a:sym typeface="Calibri"/>
              </a:rPr>
              <a:t>Prioritize, respond, and treat AI risks across the lifecycle.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12" name="Shape 312"/>
        <p:cNvGrpSpPr/>
        <p:nvPr/>
      </p:nvGrpSpPr>
      <p:grpSpPr>
        <a:xfrm>
          <a:off x="0" y="0"/>
          <a:ext cx="0" cy="0"/>
          <a:chOff x="0" y="0"/>
          <a:chExt cx="0" cy="0"/>
        </a:xfrm>
      </p:grpSpPr>
      <p:sp>
        <p:nvSpPr>
          <p:cNvPr id="313" name="Google Shape;313;p24"/>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Applying GOVERN: Who Is Responsible?</a:t>
            </a:r>
            <a:endParaRPr b="0" i="0" sz="2800" u="none" cap="none" strike="noStrike">
              <a:solidFill>
                <a:schemeClr val="dk1"/>
              </a:solidFill>
              <a:latin typeface="Calibri"/>
              <a:ea typeface="Calibri"/>
              <a:cs typeface="Calibri"/>
              <a:sym typeface="Calibri"/>
            </a:endParaRPr>
          </a:p>
        </p:txBody>
      </p:sp>
      <p:sp>
        <p:nvSpPr>
          <p:cNvPr id="314" name="Google Shape;314;p24"/>
          <p:cNvSpPr/>
          <p:nvPr/>
        </p:nvSpPr>
        <p:spPr>
          <a:xfrm>
            <a:off x="457200" y="86868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4"/>
          <p:cNvSpPr/>
          <p:nvPr/>
        </p:nvSpPr>
        <p:spPr>
          <a:xfrm>
            <a:off x="457200" y="1005840"/>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4"/>
          <p:cNvSpPr/>
          <p:nvPr/>
        </p:nvSpPr>
        <p:spPr>
          <a:xfrm>
            <a:off x="457200" y="1005840"/>
            <a:ext cx="5486400" cy="64008"/>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4"/>
          <p:cNvSpPr/>
          <p:nvPr/>
        </p:nvSpPr>
        <p:spPr>
          <a:xfrm>
            <a:off x="594360" y="1115568"/>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Policy &amp; Oversight</a:t>
            </a:r>
            <a:endParaRPr b="0" i="0" sz="1500" u="none" cap="none" strike="noStrike">
              <a:solidFill>
                <a:schemeClr val="dk1"/>
              </a:solidFill>
              <a:latin typeface="Calibri"/>
              <a:ea typeface="Calibri"/>
              <a:cs typeface="Calibri"/>
              <a:sym typeface="Calibri"/>
            </a:endParaRPr>
          </a:p>
        </p:txBody>
      </p:sp>
      <p:sp>
        <p:nvSpPr>
          <p:cNvPr id="318" name="Google Shape;318;p24"/>
          <p:cNvSpPr/>
          <p:nvPr/>
        </p:nvSpPr>
        <p:spPr>
          <a:xfrm>
            <a:off x="594360" y="1508760"/>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What policy governs how AI insider threat alerts are handled? Who approved deploying this system?</a:t>
            </a:r>
            <a:endParaRPr b="0" i="0" sz="1300" u="none" cap="none" strike="noStrike">
              <a:solidFill>
                <a:schemeClr val="dk1"/>
              </a:solidFill>
              <a:latin typeface="Calibri"/>
              <a:ea typeface="Calibri"/>
              <a:cs typeface="Calibri"/>
              <a:sym typeface="Calibri"/>
            </a:endParaRPr>
          </a:p>
        </p:txBody>
      </p:sp>
      <p:sp>
        <p:nvSpPr>
          <p:cNvPr id="319" name="Google Shape;319;p24"/>
          <p:cNvSpPr/>
          <p:nvPr/>
        </p:nvSpPr>
        <p:spPr>
          <a:xfrm>
            <a:off x="6080760" y="1005840"/>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4"/>
          <p:cNvSpPr/>
          <p:nvPr/>
        </p:nvSpPr>
        <p:spPr>
          <a:xfrm>
            <a:off x="6080760" y="1005840"/>
            <a:ext cx="5486400" cy="64008"/>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4"/>
          <p:cNvSpPr/>
          <p:nvPr/>
        </p:nvSpPr>
        <p:spPr>
          <a:xfrm>
            <a:off x="6217920" y="1115568"/>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500"/>
              <a:buFont typeface="Calibri"/>
              <a:buNone/>
            </a:pPr>
            <a:r>
              <a:rPr b="1" i="0" lang="en-US" sz="1500" u="none" cap="none" strike="noStrike">
                <a:solidFill>
                  <a:srgbClr val="2EC4B6"/>
                </a:solidFill>
                <a:latin typeface="Calibri"/>
                <a:ea typeface="Calibri"/>
                <a:cs typeface="Calibri"/>
                <a:sym typeface="Calibri"/>
              </a:rPr>
              <a:t>Roles &amp; Authority</a:t>
            </a:r>
            <a:endParaRPr b="0" i="0" sz="1500" u="none" cap="none" strike="noStrike">
              <a:solidFill>
                <a:schemeClr val="dk1"/>
              </a:solidFill>
              <a:latin typeface="Calibri"/>
              <a:ea typeface="Calibri"/>
              <a:cs typeface="Calibri"/>
              <a:sym typeface="Calibri"/>
            </a:endParaRPr>
          </a:p>
        </p:txBody>
      </p:sp>
      <p:sp>
        <p:nvSpPr>
          <p:cNvPr id="322" name="Google Shape;322;p24"/>
          <p:cNvSpPr/>
          <p:nvPr/>
        </p:nvSpPr>
        <p:spPr>
          <a:xfrm>
            <a:off x="6217920" y="1508760"/>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Who is authorized to take action on an alert? Who must approve each escalation step?</a:t>
            </a:r>
            <a:endParaRPr b="0" i="0" sz="1300" u="none" cap="none" strike="noStrike">
              <a:solidFill>
                <a:schemeClr val="dk1"/>
              </a:solidFill>
              <a:latin typeface="Calibri"/>
              <a:ea typeface="Calibri"/>
              <a:cs typeface="Calibri"/>
              <a:sym typeface="Calibri"/>
            </a:endParaRPr>
          </a:p>
        </p:txBody>
      </p:sp>
      <p:sp>
        <p:nvSpPr>
          <p:cNvPr id="323" name="Google Shape;323;p24"/>
          <p:cNvSpPr/>
          <p:nvPr/>
        </p:nvSpPr>
        <p:spPr>
          <a:xfrm>
            <a:off x="457200" y="3547872"/>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4"/>
          <p:cNvSpPr/>
          <p:nvPr/>
        </p:nvSpPr>
        <p:spPr>
          <a:xfrm>
            <a:off x="457200" y="3547872"/>
            <a:ext cx="5486400" cy="64008"/>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4"/>
          <p:cNvSpPr/>
          <p:nvPr/>
        </p:nvSpPr>
        <p:spPr>
          <a:xfrm>
            <a:off x="594360" y="3657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Accountability Structures</a:t>
            </a:r>
            <a:endParaRPr b="0" i="0" sz="1500" u="none" cap="none" strike="noStrike">
              <a:solidFill>
                <a:schemeClr val="dk1"/>
              </a:solidFill>
              <a:latin typeface="Calibri"/>
              <a:ea typeface="Calibri"/>
              <a:cs typeface="Calibri"/>
              <a:sym typeface="Calibri"/>
            </a:endParaRPr>
          </a:p>
        </p:txBody>
      </p:sp>
      <p:sp>
        <p:nvSpPr>
          <p:cNvPr id="326" name="Google Shape;326;p24"/>
          <p:cNvSpPr/>
          <p:nvPr/>
        </p:nvSpPr>
        <p:spPr>
          <a:xfrm>
            <a:off x="594360" y="4050792"/>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If the system causes harm, who is responsible? Is there a documented chain of accountability?</a:t>
            </a:r>
            <a:endParaRPr b="0" i="0" sz="1300" u="none" cap="none" strike="noStrike">
              <a:solidFill>
                <a:schemeClr val="dk1"/>
              </a:solidFill>
              <a:latin typeface="Calibri"/>
              <a:ea typeface="Calibri"/>
              <a:cs typeface="Calibri"/>
              <a:sym typeface="Calibri"/>
            </a:endParaRPr>
          </a:p>
        </p:txBody>
      </p:sp>
      <p:sp>
        <p:nvSpPr>
          <p:cNvPr id="327" name="Google Shape;327;p24"/>
          <p:cNvSpPr/>
          <p:nvPr/>
        </p:nvSpPr>
        <p:spPr>
          <a:xfrm>
            <a:off x="6080760" y="3547872"/>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4"/>
          <p:cNvSpPr/>
          <p:nvPr/>
        </p:nvSpPr>
        <p:spPr>
          <a:xfrm>
            <a:off x="6080760" y="3547872"/>
            <a:ext cx="5486400" cy="64008"/>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4"/>
          <p:cNvSpPr/>
          <p:nvPr/>
        </p:nvSpPr>
        <p:spPr>
          <a:xfrm>
            <a:off x="6217920" y="3657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500"/>
              <a:buFont typeface="Calibri"/>
              <a:buNone/>
            </a:pPr>
            <a:r>
              <a:rPr b="1" i="0" lang="en-US" sz="1500" u="none" cap="none" strike="noStrike">
                <a:solidFill>
                  <a:srgbClr val="FFD166"/>
                </a:solidFill>
                <a:latin typeface="Calibri"/>
                <a:ea typeface="Calibri"/>
                <a:cs typeface="Calibri"/>
                <a:sym typeface="Calibri"/>
              </a:rPr>
              <a:t>Ethical Culture</a:t>
            </a:r>
            <a:endParaRPr b="0" i="0" sz="1500" u="none" cap="none" strike="noStrike">
              <a:solidFill>
                <a:schemeClr val="dk1"/>
              </a:solidFill>
              <a:latin typeface="Calibri"/>
              <a:ea typeface="Calibri"/>
              <a:cs typeface="Calibri"/>
              <a:sym typeface="Calibri"/>
            </a:endParaRPr>
          </a:p>
        </p:txBody>
      </p:sp>
      <p:sp>
        <p:nvSpPr>
          <p:cNvPr id="330" name="Google Shape;330;p24"/>
          <p:cNvSpPr/>
          <p:nvPr/>
        </p:nvSpPr>
        <p:spPr>
          <a:xfrm>
            <a:off x="6217920" y="4050792"/>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Does the organization have a culture where security professionals can push back on the AI's outputs without fear?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35" name="Shape 335"/>
        <p:cNvGrpSpPr/>
        <p:nvPr/>
      </p:nvGrpSpPr>
      <p:grpSpPr>
        <a:xfrm>
          <a:off x="0" y="0"/>
          <a:ext cx="0" cy="0"/>
          <a:chOff x="0" y="0"/>
          <a:chExt cx="0" cy="0"/>
        </a:xfrm>
      </p:grpSpPr>
      <p:sp>
        <p:nvSpPr>
          <p:cNvPr id="336" name="Google Shape;336;p25"/>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Applying MAP: What Could Go Wrong?</a:t>
            </a:r>
            <a:endParaRPr b="0" i="0" sz="2800" u="none" cap="none" strike="noStrike">
              <a:solidFill>
                <a:schemeClr val="dk1"/>
              </a:solidFill>
              <a:latin typeface="Calibri"/>
              <a:ea typeface="Calibri"/>
              <a:cs typeface="Calibri"/>
              <a:sym typeface="Calibri"/>
            </a:endParaRPr>
          </a:p>
        </p:txBody>
      </p:sp>
      <p:sp>
        <p:nvSpPr>
          <p:cNvPr id="337" name="Google Shape;337;p25"/>
          <p:cNvSpPr/>
          <p:nvPr/>
        </p:nvSpPr>
        <p:spPr>
          <a:xfrm>
            <a:off x="457200" y="86868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5"/>
          <p:cNvSpPr/>
          <p:nvPr/>
        </p:nvSpPr>
        <p:spPr>
          <a:xfrm>
            <a:off x="457200" y="1005840"/>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5"/>
          <p:cNvSpPr/>
          <p:nvPr/>
        </p:nvSpPr>
        <p:spPr>
          <a:xfrm>
            <a:off x="457200" y="1005840"/>
            <a:ext cx="5486400" cy="64008"/>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5"/>
          <p:cNvSpPr/>
          <p:nvPr/>
        </p:nvSpPr>
        <p:spPr>
          <a:xfrm>
            <a:off x="594360" y="1115568"/>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What is happening?</a:t>
            </a:r>
            <a:endParaRPr b="0" i="0" sz="1500" u="none" cap="none" strike="noStrike">
              <a:solidFill>
                <a:schemeClr val="dk1"/>
              </a:solidFill>
              <a:latin typeface="Calibri"/>
              <a:ea typeface="Calibri"/>
              <a:cs typeface="Calibri"/>
              <a:sym typeface="Calibri"/>
            </a:endParaRPr>
          </a:p>
        </p:txBody>
      </p:sp>
      <p:sp>
        <p:nvSpPr>
          <p:cNvPr id="341" name="Google Shape;341;p25"/>
          <p:cNvSpPr/>
          <p:nvPr/>
        </p:nvSpPr>
        <p:spPr>
          <a:xfrm>
            <a:off x="594360" y="1508760"/>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An AI system monitors employee behavior and generates insider threat alerts with a confidence score and recommended action.</a:t>
            </a:r>
            <a:endParaRPr b="0" i="0" sz="1300" u="none" cap="none" strike="noStrike">
              <a:solidFill>
                <a:schemeClr val="dk1"/>
              </a:solidFill>
              <a:latin typeface="Calibri"/>
              <a:ea typeface="Calibri"/>
              <a:cs typeface="Calibri"/>
              <a:sym typeface="Calibri"/>
            </a:endParaRPr>
          </a:p>
        </p:txBody>
      </p:sp>
      <p:sp>
        <p:nvSpPr>
          <p:cNvPr id="342" name="Google Shape;342;p25"/>
          <p:cNvSpPr/>
          <p:nvPr/>
        </p:nvSpPr>
        <p:spPr>
          <a:xfrm>
            <a:off x="6080760" y="1005840"/>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5"/>
          <p:cNvSpPr/>
          <p:nvPr/>
        </p:nvSpPr>
        <p:spPr>
          <a:xfrm>
            <a:off x="6080760" y="1005840"/>
            <a:ext cx="5486400" cy="64008"/>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5"/>
          <p:cNvSpPr/>
          <p:nvPr/>
        </p:nvSpPr>
        <p:spPr>
          <a:xfrm>
            <a:off x="6217920" y="1115568"/>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500"/>
              <a:buFont typeface="Calibri"/>
              <a:buNone/>
            </a:pPr>
            <a:r>
              <a:rPr b="1" i="0" lang="en-US" sz="1500" u="none" cap="none" strike="noStrike">
                <a:solidFill>
                  <a:srgbClr val="FFD166"/>
                </a:solidFill>
                <a:latin typeface="Calibri"/>
                <a:ea typeface="Calibri"/>
                <a:cs typeface="Calibri"/>
                <a:sym typeface="Calibri"/>
              </a:rPr>
              <a:t>Who could be affected?</a:t>
            </a:r>
            <a:endParaRPr b="0" i="0" sz="1500" u="none" cap="none" strike="noStrike">
              <a:solidFill>
                <a:schemeClr val="dk1"/>
              </a:solidFill>
              <a:latin typeface="Calibri"/>
              <a:ea typeface="Calibri"/>
              <a:cs typeface="Calibri"/>
              <a:sym typeface="Calibri"/>
            </a:endParaRPr>
          </a:p>
        </p:txBody>
      </p:sp>
      <p:sp>
        <p:nvSpPr>
          <p:cNvPr id="345" name="Google Shape;345;p25"/>
          <p:cNvSpPr/>
          <p:nvPr/>
        </p:nvSpPr>
        <p:spPr>
          <a:xfrm>
            <a:off x="6217920" y="1508760"/>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Flagged employees, the security team, HR, legal, the broader workforce watching how cases are handled, customers whose data is at stake.</a:t>
            </a:r>
            <a:endParaRPr b="0" i="0" sz="1300" u="none" cap="none" strike="noStrike">
              <a:solidFill>
                <a:schemeClr val="dk1"/>
              </a:solidFill>
              <a:latin typeface="Calibri"/>
              <a:ea typeface="Calibri"/>
              <a:cs typeface="Calibri"/>
              <a:sym typeface="Calibri"/>
            </a:endParaRPr>
          </a:p>
        </p:txBody>
      </p:sp>
      <p:sp>
        <p:nvSpPr>
          <p:cNvPr id="346" name="Google Shape;346;p25"/>
          <p:cNvSpPr/>
          <p:nvPr/>
        </p:nvSpPr>
        <p:spPr>
          <a:xfrm>
            <a:off x="457200" y="3547872"/>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5"/>
          <p:cNvSpPr/>
          <p:nvPr/>
        </p:nvSpPr>
        <p:spPr>
          <a:xfrm>
            <a:off x="457200" y="3547872"/>
            <a:ext cx="5486400" cy="64008"/>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5"/>
          <p:cNvSpPr/>
          <p:nvPr/>
        </p:nvSpPr>
        <p:spPr>
          <a:xfrm>
            <a:off x="594360" y="3657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3946"/>
              </a:buClr>
              <a:buSzPts val="1500"/>
              <a:buFont typeface="Calibri"/>
              <a:buNone/>
            </a:pPr>
            <a:r>
              <a:rPr b="1" i="0" lang="en-US" sz="1500" u="none" cap="none" strike="noStrike">
                <a:solidFill>
                  <a:srgbClr val="E63946"/>
                </a:solidFill>
                <a:latin typeface="Calibri"/>
                <a:ea typeface="Calibri"/>
                <a:cs typeface="Calibri"/>
                <a:sym typeface="Calibri"/>
              </a:rPr>
              <a:t>What could go wrong?</a:t>
            </a:r>
            <a:endParaRPr b="0" i="0" sz="1500" u="none" cap="none" strike="noStrike">
              <a:solidFill>
                <a:schemeClr val="dk1"/>
              </a:solidFill>
              <a:latin typeface="Calibri"/>
              <a:ea typeface="Calibri"/>
              <a:cs typeface="Calibri"/>
              <a:sym typeface="Calibri"/>
            </a:endParaRPr>
          </a:p>
        </p:txBody>
      </p:sp>
      <p:sp>
        <p:nvSpPr>
          <p:cNvPr id="349" name="Google Shape;349;p25"/>
          <p:cNvSpPr/>
          <p:nvPr/>
        </p:nvSpPr>
        <p:spPr>
          <a:xfrm>
            <a:off x="594360" y="4050792"/>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False positives harm innocent employees. False negatives allow real threats. Bias systematically disadvantages certain groups. Auto-response causes irreversible harm.</a:t>
            </a:r>
            <a:endParaRPr b="0" i="0" sz="1300" u="none" cap="none" strike="noStrike">
              <a:solidFill>
                <a:schemeClr val="dk1"/>
              </a:solidFill>
              <a:latin typeface="Calibri"/>
              <a:ea typeface="Calibri"/>
              <a:cs typeface="Calibri"/>
              <a:sym typeface="Calibri"/>
            </a:endParaRPr>
          </a:p>
        </p:txBody>
      </p:sp>
      <p:sp>
        <p:nvSpPr>
          <p:cNvPr id="350" name="Google Shape;350;p25"/>
          <p:cNvSpPr/>
          <p:nvPr/>
        </p:nvSpPr>
        <p:spPr>
          <a:xfrm>
            <a:off x="6080760" y="3547872"/>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5"/>
          <p:cNvSpPr/>
          <p:nvPr/>
        </p:nvSpPr>
        <p:spPr>
          <a:xfrm>
            <a:off x="6080760" y="3547872"/>
            <a:ext cx="5486400" cy="64008"/>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5"/>
          <p:cNvSpPr/>
          <p:nvPr/>
        </p:nvSpPr>
        <p:spPr>
          <a:xfrm>
            <a:off x="6217920" y="3657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500"/>
              <a:buFont typeface="Calibri"/>
              <a:buNone/>
            </a:pPr>
            <a:r>
              <a:rPr b="1" i="0" lang="en-US" sz="1500" u="none" cap="none" strike="noStrike">
                <a:solidFill>
                  <a:srgbClr val="2EC4B6"/>
                </a:solidFill>
                <a:latin typeface="Calibri"/>
                <a:ea typeface="Calibri"/>
                <a:cs typeface="Calibri"/>
                <a:sym typeface="Calibri"/>
              </a:rPr>
              <a:t>What context matters?</a:t>
            </a:r>
            <a:endParaRPr b="0" i="0" sz="1500" u="none" cap="none" strike="noStrike">
              <a:solidFill>
                <a:schemeClr val="dk1"/>
              </a:solidFill>
              <a:latin typeface="Calibri"/>
              <a:ea typeface="Calibri"/>
              <a:cs typeface="Calibri"/>
              <a:sym typeface="Calibri"/>
            </a:endParaRPr>
          </a:p>
        </p:txBody>
      </p:sp>
      <p:sp>
        <p:nvSpPr>
          <p:cNvPr id="353" name="Google Shape;353;p25"/>
          <p:cNvSpPr/>
          <p:nvPr/>
        </p:nvSpPr>
        <p:spPr>
          <a:xfrm>
            <a:off x="6217920" y="4050792"/>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The flagged person's role, their disclosures, the specific behaviors and their plausible explanations, legal authorization for each investigative step.</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58" name="Shape 358"/>
        <p:cNvGrpSpPr/>
        <p:nvPr/>
      </p:nvGrpSpPr>
      <p:grpSpPr>
        <a:xfrm>
          <a:off x="0" y="0"/>
          <a:ext cx="0" cy="0"/>
          <a:chOff x="0" y="0"/>
          <a:chExt cx="0" cy="0"/>
        </a:xfrm>
      </p:grpSpPr>
      <p:sp>
        <p:nvSpPr>
          <p:cNvPr id="359" name="Google Shape;359;p26"/>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Applying MEASURE: How Do We Know If It's Working?</a:t>
            </a:r>
            <a:endParaRPr b="0" i="0" sz="2800" u="none" cap="none" strike="noStrike">
              <a:solidFill>
                <a:schemeClr val="dk1"/>
              </a:solidFill>
              <a:latin typeface="Calibri"/>
              <a:ea typeface="Calibri"/>
              <a:cs typeface="Calibri"/>
              <a:sym typeface="Calibri"/>
            </a:endParaRPr>
          </a:p>
        </p:txBody>
      </p:sp>
      <p:sp>
        <p:nvSpPr>
          <p:cNvPr id="360" name="Google Shape;360;p26"/>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6"/>
          <p:cNvSpPr/>
          <p:nvPr/>
        </p:nvSpPr>
        <p:spPr>
          <a:xfrm>
            <a:off x="457200" y="1097280"/>
            <a:ext cx="11247120" cy="5394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Performance metrics for the AI system:</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False positive rate: what % of alerts are for innocent individuals?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False negative rate: what % of real threats does the system miss?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Time to human review: how long from alert to human decision?</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Demographic analysis: are any groups disproportionately flagged?</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Human decision quality metrics:</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Are analysts applying consistent criteria to similar alerts?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Are escalations documented with clear reasoning?</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Do outcomes reflect the intent of the policy?</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D166"/>
              </a:buClr>
              <a:buSzPts val="1600"/>
              <a:buFont typeface="Calibri"/>
              <a:buNone/>
            </a:pPr>
            <a:r>
              <a:rPr b="1" i="0" lang="en-US" sz="1600" u="none" cap="none" strike="noStrike">
                <a:solidFill>
                  <a:srgbClr val="FFD166"/>
                </a:solidFill>
                <a:latin typeface="Calibri"/>
                <a:ea typeface="Calibri"/>
                <a:cs typeface="Calibri"/>
                <a:sym typeface="Calibri"/>
              </a:rPr>
              <a:t>Key principle: You cannot manage what you do not measure.</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Measuring only "did the system flag a threat?" is insufficient — you must also measure what the system got wrong and why.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66" name="Shape 366"/>
        <p:cNvGrpSpPr/>
        <p:nvPr/>
      </p:nvGrpSpPr>
      <p:grpSpPr>
        <a:xfrm>
          <a:off x="0" y="0"/>
          <a:ext cx="0" cy="0"/>
          <a:chOff x="0" y="0"/>
          <a:chExt cx="0" cy="0"/>
        </a:xfrm>
      </p:grpSpPr>
      <p:sp>
        <p:nvSpPr>
          <p:cNvPr id="367" name="Google Shape;367;p27"/>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Applying MANAGE: What Should the Organization Do?</a:t>
            </a:r>
            <a:endParaRPr b="0" i="0" sz="2800" u="none" cap="none" strike="noStrike">
              <a:solidFill>
                <a:schemeClr val="dk1"/>
              </a:solidFill>
              <a:latin typeface="Calibri"/>
              <a:ea typeface="Calibri"/>
              <a:cs typeface="Calibri"/>
              <a:sym typeface="Calibri"/>
            </a:endParaRPr>
          </a:p>
        </p:txBody>
      </p:sp>
      <p:sp>
        <p:nvSpPr>
          <p:cNvPr id="368" name="Google Shape;368;p27"/>
          <p:cNvSpPr/>
          <p:nvPr/>
        </p:nvSpPr>
        <p:spPr>
          <a:xfrm>
            <a:off x="457200" y="86868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7"/>
          <p:cNvSpPr/>
          <p:nvPr/>
        </p:nvSpPr>
        <p:spPr>
          <a:xfrm>
            <a:off x="457200" y="1005840"/>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457200" y="1005840"/>
            <a:ext cx="5486400" cy="64008"/>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7"/>
          <p:cNvSpPr/>
          <p:nvPr/>
        </p:nvSpPr>
        <p:spPr>
          <a:xfrm>
            <a:off x="594360" y="1115568"/>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3946"/>
              </a:buClr>
              <a:buSzPts val="1500"/>
              <a:buFont typeface="Calibri"/>
              <a:buNone/>
            </a:pPr>
            <a:r>
              <a:rPr b="1" i="0" lang="en-US" sz="1500" u="none" cap="none" strike="noStrike">
                <a:solidFill>
                  <a:srgbClr val="E63946"/>
                </a:solidFill>
                <a:latin typeface="Calibri"/>
                <a:ea typeface="Calibri"/>
                <a:cs typeface="Calibri"/>
                <a:sym typeface="Calibri"/>
              </a:rPr>
              <a:t>Immediate (this alert)</a:t>
            </a:r>
            <a:endParaRPr b="0" i="0" sz="1500" u="none" cap="none" strike="noStrike">
              <a:solidFill>
                <a:schemeClr val="dk1"/>
              </a:solidFill>
              <a:latin typeface="Calibri"/>
              <a:ea typeface="Calibri"/>
              <a:cs typeface="Calibri"/>
              <a:sym typeface="Calibri"/>
            </a:endParaRPr>
          </a:p>
        </p:txBody>
      </p:sp>
      <p:sp>
        <p:nvSpPr>
          <p:cNvPr id="372" name="Google Shape;372;p27"/>
          <p:cNvSpPr/>
          <p:nvPr/>
        </p:nvSpPr>
        <p:spPr>
          <a:xfrm>
            <a:off x="594360" y="1508760"/>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Pause automated action. Human review with full context. Contact manager and HR. Interview the employee before any action.</a:t>
            </a:r>
            <a:endParaRPr b="0" i="0" sz="1300" u="none" cap="none" strike="noStrike">
              <a:solidFill>
                <a:schemeClr val="dk1"/>
              </a:solidFill>
              <a:latin typeface="Calibri"/>
              <a:ea typeface="Calibri"/>
              <a:cs typeface="Calibri"/>
              <a:sym typeface="Calibri"/>
            </a:endParaRPr>
          </a:p>
        </p:txBody>
      </p:sp>
      <p:sp>
        <p:nvSpPr>
          <p:cNvPr id="373" name="Google Shape;373;p27"/>
          <p:cNvSpPr/>
          <p:nvPr/>
        </p:nvSpPr>
        <p:spPr>
          <a:xfrm>
            <a:off x="6080760" y="1005840"/>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6080760" y="1005840"/>
            <a:ext cx="5486400" cy="64008"/>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p:nvPr/>
        </p:nvSpPr>
        <p:spPr>
          <a:xfrm>
            <a:off x="6217920" y="1115568"/>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Short-Term</a:t>
            </a:r>
            <a:endParaRPr b="0" i="0" sz="1500" u="none" cap="none" strike="noStrike">
              <a:solidFill>
                <a:schemeClr val="dk1"/>
              </a:solidFill>
              <a:latin typeface="Calibri"/>
              <a:ea typeface="Calibri"/>
              <a:cs typeface="Calibri"/>
              <a:sym typeface="Calibri"/>
            </a:endParaRPr>
          </a:p>
        </p:txBody>
      </p:sp>
      <p:sp>
        <p:nvSpPr>
          <p:cNvPr id="376" name="Google Shape;376;p27"/>
          <p:cNvSpPr/>
          <p:nvPr/>
        </p:nvSpPr>
        <p:spPr>
          <a:xfrm>
            <a:off x="6217920" y="1508760"/>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Establish clear escalation policy. Define what authorization is required at each step. Document every decision and its justification.</a:t>
            </a:r>
            <a:endParaRPr b="0" i="0" sz="1300" u="none" cap="none" strike="noStrike">
              <a:solidFill>
                <a:schemeClr val="dk1"/>
              </a:solidFill>
              <a:latin typeface="Calibri"/>
              <a:ea typeface="Calibri"/>
              <a:cs typeface="Calibri"/>
              <a:sym typeface="Calibri"/>
            </a:endParaRPr>
          </a:p>
        </p:txBody>
      </p:sp>
      <p:sp>
        <p:nvSpPr>
          <p:cNvPr id="377" name="Google Shape;377;p27"/>
          <p:cNvSpPr/>
          <p:nvPr/>
        </p:nvSpPr>
        <p:spPr>
          <a:xfrm>
            <a:off x="457200" y="3547872"/>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a:off x="457200" y="3547872"/>
            <a:ext cx="5486400" cy="64008"/>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p:nvPr/>
        </p:nvSpPr>
        <p:spPr>
          <a:xfrm>
            <a:off x="594360" y="3657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Medium-Term</a:t>
            </a:r>
            <a:endParaRPr b="0" i="0" sz="1500" u="none" cap="none" strike="noStrike">
              <a:solidFill>
                <a:schemeClr val="dk1"/>
              </a:solidFill>
              <a:latin typeface="Calibri"/>
              <a:ea typeface="Calibri"/>
              <a:cs typeface="Calibri"/>
              <a:sym typeface="Calibri"/>
            </a:endParaRPr>
          </a:p>
        </p:txBody>
      </p:sp>
      <p:sp>
        <p:nvSpPr>
          <p:cNvPr id="380" name="Google Shape;380;p27"/>
          <p:cNvSpPr/>
          <p:nvPr/>
        </p:nvSpPr>
        <p:spPr>
          <a:xfrm>
            <a:off x="594360" y="4050792"/>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Audit the AI system's false positive rate. Test for demographic bias. Adjust thresholds based on findings. Train analysts to contextualize alerts.</a:t>
            </a:r>
            <a:endParaRPr b="0" i="0" sz="1300" u="none" cap="none" strike="noStrike">
              <a:solidFill>
                <a:schemeClr val="dk1"/>
              </a:solidFill>
              <a:latin typeface="Calibri"/>
              <a:ea typeface="Calibri"/>
              <a:cs typeface="Calibri"/>
              <a:sym typeface="Calibri"/>
            </a:endParaRPr>
          </a:p>
        </p:txBody>
      </p:sp>
      <p:sp>
        <p:nvSpPr>
          <p:cNvPr id="381" name="Google Shape;381;p27"/>
          <p:cNvSpPr/>
          <p:nvPr/>
        </p:nvSpPr>
        <p:spPr>
          <a:xfrm>
            <a:off x="6080760" y="3547872"/>
            <a:ext cx="548640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6080760" y="3547872"/>
            <a:ext cx="5486400" cy="64008"/>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6217920" y="3657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500"/>
              <a:buFont typeface="Calibri"/>
              <a:buNone/>
            </a:pPr>
            <a:r>
              <a:rPr b="1" i="0" lang="en-US" sz="1500" u="none" cap="none" strike="noStrike">
                <a:solidFill>
                  <a:srgbClr val="2EC4B6"/>
                </a:solidFill>
                <a:latin typeface="Calibri"/>
                <a:ea typeface="Calibri"/>
                <a:cs typeface="Calibri"/>
                <a:sym typeface="Calibri"/>
              </a:rPr>
              <a:t>Long-Term</a:t>
            </a:r>
            <a:endParaRPr b="0" i="0" sz="1500" u="none" cap="none" strike="noStrike">
              <a:solidFill>
                <a:schemeClr val="dk1"/>
              </a:solidFill>
              <a:latin typeface="Calibri"/>
              <a:ea typeface="Calibri"/>
              <a:cs typeface="Calibri"/>
              <a:sym typeface="Calibri"/>
            </a:endParaRPr>
          </a:p>
        </p:txBody>
      </p:sp>
      <p:sp>
        <p:nvSpPr>
          <p:cNvPr id="384" name="Google Shape;384;p27"/>
          <p:cNvSpPr/>
          <p:nvPr/>
        </p:nvSpPr>
        <p:spPr>
          <a:xfrm>
            <a:off x="6217920" y="4050792"/>
            <a:ext cx="521208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Build a review board for AI-generated security decisions. Create a formal disclosure process for employees doing security coursework. Align policy with professional codes of ethics.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89" name="Shape 389"/>
        <p:cNvGrpSpPr/>
        <p:nvPr/>
      </p:nvGrpSpPr>
      <p:grpSpPr>
        <a:xfrm>
          <a:off x="0" y="0"/>
          <a:ext cx="0" cy="0"/>
          <a:chOff x="0" y="0"/>
          <a:chExt cx="0" cy="0"/>
        </a:xfrm>
      </p:grpSpPr>
      <p:sp>
        <p:nvSpPr>
          <p:cNvPr id="390" name="Google Shape;390;p28"/>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Connecting to NIST Cybersecurity Framework 2.0</a:t>
            </a:r>
            <a:endParaRPr b="0" i="0" sz="2800" u="none" cap="none" strike="noStrike">
              <a:solidFill>
                <a:schemeClr val="dk1"/>
              </a:solidFill>
              <a:latin typeface="Calibri"/>
              <a:ea typeface="Calibri"/>
              <a:cs typeface="Calibri"/>
              <a:sym typeface="Calibri"/>
            </a:endParaRPr>
          </a:p>
        </p:txBody>
      </p:sp>
      <p:sp>
        <p:nvSpPr>
          <p:cNvPr id="391" name="Google Shape;391;p28"/>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8"/>
          <p:cNvSpPr/>
          <p:nvPr/>
        </p:nvSpPr>
        <p:spPr>
          <a:xfrm>
            <a:off x="45720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600"/>
              <a:buFont typeface="Calibri"/>
              <a:buNone/>
            </a:pPr>
            <a:r>
              <a:rPr b="1" i="0" lang="en-US" sz="1600" u="none" cap="none" strike="noStrike">
                <a:solidFill>
                  <a:srgbClr val="F4A261"/>
                </a:solidFill>
                <a:latin typeface="Calibri"/>
                <a:ea typeface="Calibri"/>
                <a:cs typeface="Calibri"/>
                <a:sym typeface="Calibri"/>
              </a:rPr>
              <a:t>Framework Overview</a:t>
            </a:r>
            <a:endParaRPr b="0" i="0" sz="1600" u="none" cap="none" strike="noStrike">
              <a:solidFill>
                <a:schemeClr val="dk1"/>
              </a:solidFill>
              <a:latin typeface="Calibri"/>
              <a:ea typeface="Calibri"/>
              <a:cs typeface="Calibri"/>
              <a:sym typeface="Calibri"/>
            </a:endParaRPr>
          </a:p>
        </p:txBody>
      </p:sp>
      <p:sp>
        <p:nvSpPr>
          <p:cNvPr id="393" name="Google Shape;393;p28"/>
          <p:cNvSpPr/>
          <p:nvPr/>
        </p:nvSpPr>
        <p:spPr>
          <a:xfrm>
            <a:off x="6309360" y="1097280"/>
            <a:ext cx="53949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600"/>
              <a:buFont typeface="Calibri"/>
              <a:buNone/>
            </a:pPr>
            <a:r>
              <a:rPr b="1" i="0" lang="en-US" sz="1600" u="none" cap="none" strike="noStrike">
                <a:solidFill>
                  <a:srgbClr val="2EC4B6"/>
                </a:solidFill>
                <a:latin typeface="Calibri"/>
                <a:ea typeface="Calibri"/>
                <a:cs typeface="Calibri"/>
                <a:sym typeface="Calibri"/>
              </a:rPr>
              <a:t>Applied to Our Case</a:t>
            </a:r>
            <a:endParaRPr b="0" i="0" sz="1600" u="none" cap="none" strike="noStrike">
              <a:solidFill>
                <a:schemeClr val="dk1"/>
              </a:solidFill>
              <a:latin typeface="Calibri"/>
              <a:ea typeface="Calibri"/>
              <a:cs typeface="Calibri"/>
              <a:sym typeface="Calibri"/>
            </a:endParaRPr>
          </a:p>
        </p:txBody>
      </p:sp>
      <p:sp>
        <p:nvSpPr>
          <p:cNvPr id="394" name="Google Shape;394;p28"/>
          <p:cNvSpPr/>
          <p:nvPr/>
        </p:nvSpPr>
        <p:spPr>
          <a:xfrm>
            <a:off x="45720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What is CSF 2.0?</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A framework for managing cybersecurity risk across an organization</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Updated in 2024 with GOVERN as a new core function</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Designed to work alongside other frameworks including AI RMF</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CSF 2.0 Core Functions:</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GOVERN → Organizational context and risk management strategy</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IDENTIFY → Asset management, risk assessment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PROTECT → Access control, training, data security</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DETECT → Anomaly detection (where our AI system sits)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RESPOND → Incident response planning and execution</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RECOVER → Recovery planning and communications</a:t>
            </a:r>
            <a:endParaRPr b="0" i="0" sz="1600" u="none" cap="none" strike="noStrike">
              <a:solidFill>
                <a:schemeClr val="dk1"/>
              </a:solidFill>
              <a:latin typeface="Calibri"/>
              <a:ea typeface="Calibri"/>
              <a:cs typeface="Calibri"/>
              <a:sym typeface="Calibri"/>
            </a:endParaRPr>
          </a:p>
        </p:txBody>
      </p:sp>
      <p:sp>
        <p:nvSpPr>
          <p:cNvPr id="395" name="Google Shape;395;p28"/>
          <p:cNvSpPr/>
          <p:nvPr/>
        </p:nvSpPr>
        <p:spPr>
          <a:xfrm>
            <a:off x="6172200" y="1097280"/>
            <a:ext cx="27432" cy="539496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8"/>
          <p:cNvSpPr/>
          <p:nvPr/>
        </p:nvSpPr>
        <p:spPr>
          <a:xfrm>
            <a:off x="6309360" y="1554480"/>
            <a:ext cx="5394960" cy="502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D166"/>
              </a:buClr>
              <a:buSzPts val="1600"/>
              <a:buFont typeface="Calibri"/>
              <a:buNone/>
            </a:pPr>
            <a:r>
              <a:rPr b="1" i="0" lang="en-US" sz="1600" u="none" cap="none" strike="noStrike">
                <a:solidFill>
                  <a:srgbClr val="FFD166"/>
                </a:solidFill>
                <a:latin typeface="Calibri"/>
                <a:ea typeface="Calibri"/>
                <a:cs typeface="Calibri"/>
                <a:sym typeface="Calibri"/>
              </a:rPr>
              <a:t>Today's Course Connection:</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Our AI insider threat system lives in DETECT</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But the ethical issues touch every function</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Example:</a:t>
            </a:r>
            <a:endParaRPr b="0" i="0" sz="16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GOVERN: Does policy authorize what the AI does?</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IDENTIFY: Have we identified insider threat as a risk — and false positives as a risk?</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PROTECT: Do access controls limit what the AI can see?</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DETECT: Is the AI's detection accurate and fair?</a:t>
            </a:r>
            <a:endParaRPr b="0" i="0" sz="16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8EDF2"/>
              </a:buClr>
              <a:buSzPts val="1600"/>
              <a:buFont typeface="Calibri"/>
              <a:buChar char="•"/>
            </a:pPr>
            <a:r>
              <a:rPr b="0" i="0" lang="en-US" sz="1600" u="none" cap="none" strike="noStrike">
                <a:solidFill>
                  <a:srgbClr val="E8EDF2"/>
                </a:solidFill>
                <a:latin typeface="Calibri"/>
                <a:ea typeface="Calibri"/>
                <a:cs typeface="Calibri"/>
                <a:sym typeface="Calibri"/>
              </a:rPr>
              <a:t>RESPOND: What do we do when a human reviews the alert?</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400"/>
              <a:buFont typeface="Calibri"/>
              <a:buNone/>
            </a:pPr>
            <a:r>
              <a:rPr b="0" i="1" lang="en-US" sz="1400" u="none" cap="none" strike="noStrike">
                <a:solidFill>
                  <a:srgbClr val="00A896"/>
                </a:solidFill>
                <a:latin typeface="Calibri"/>
                <a:ea typeface="Calibri"/>
                <a:cs typeface="Calibri"/>
                <a:sym typeface="Calibri"/>
              </a:rPr>
              <a:t>Takeaway: Cybersecurity decisions exist within an organization, not just inside the security team.</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01" name="Shape 401"/>
        <p:cNvGrpSpPr/>
        <p:nvPr/>
      </p:nvGrpSpPr>
      <p:grpSpPr>
        <a:xfrm>
          <a:off x="0" y="0"/>
          <a:ext cx="0" cy="0"/>
          <a:chOff x="0" y="0"/>
          <a:chExt cx="0" cy="0"/>
        </a:xfrm>
      </p:grpSpPr>
      <p:sp>
        <p:nvSpPr>
          <p:cNvPr id="402" name="Google Shape;402;p29"/>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2800"/>
              <a:buFont typeface="Cambria"/>
              <a:buNone/>
            </a:pPr>
            <a:r>
              <a:rPr b="1" i="0" lang="en-US" sz="2800" u="none" cap="none" strike="noStrike">
                <a:solidFill>
                  <a:srgbClr val="F4A261"/>
                </a:solidFill>
                <a:latin typeface="Cambria"/>
                <a:ea typeface="Cambria"/>
                <a:cs typeface="Cambria"/>
                <a:sym typeface="Cambria"/>
              </a:rPr>
              <a:t>Full Case Debrief: What Should Your Team Do?</a:t>
            </a:r>
            <a:endParaRPr b="0" i="0" sz="2800" u="none" cap="none" strike="noStrike">
              <a:solidFill>
                <a:schemeClr val="dk1"/>
              </a:solidFill>
              <a:latin typeface="Calibri"/>
              <a:ea typeface="Calibri"/>
              <a:cs typeface="Calibri"/>
              <a:sym typeface="Calibri"/>
            </a:endParaRPr>
          </a:p>
        </p:txBody>
      </p:sp>
      <p:sp>
        <p:nvSpPr>
          <p:cNvPr id="403" name="Google Shape;403;p29"/>
          <p:cNvSpPr/>
          <p:nvPr/>
        </p:nvSpPr>
        <p:spPr>
          <a:xfrm>
            <a:off x="457200" y="868680"/>
            <a:ext cx="11247120" cy="27432"/>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9"/>
          <p:cNvSpPr/>
          <p:nvPr/>
        </p:nvSpPr>
        <p:spPr>
          <a:xfrm>
            <a:off x="457200" y="960120"/>
            <a:ext cx="11247120" cy="1645920"/>
          </a:xfrm>
          <a:prstGeom prst="rect">
            <a:avLst/>
          </a:prstGeom>
          <a:solidFill>
            <a:srgbClr val="1A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9"/>
          <p:cNvSpPr/>
          <p:nvPr/>
        </p:nvSpPr>
        <p:spPr>
          <a:xfrm>
            <a:off x="457200" y="960120"/>
            <a:ext cx="91440" cy="164592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9"/>
          <p:cNvSpPr/>
          <p:nvPr/>
        </p:nvSpPr>
        <p:spPr>
          <a:xfrm>
            <a:off x="685800" y="1005840"/>
            <a:ext cx="10881360" cy="1554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500"/>
              <a:buFont typeface="Calibri"/>
              <a:buNone/>
            </a:pPr>
            <a:r>
              <a:rPr b="0" i="1" lang="en-US" sz="1500" u="none" cap="none" strike="noStrike">
                <a:solidFill>
                  <a:srgbClr val="E8EDF2"/>
                </a:solidFill>
                <a:latin typeface="Calibri"/>
                <a:ea typeface="Calibri"/>
                <a:cs typeface="Calibri"/>
                <a:sym typeface="Calibri"/>
              </a:rPr>
              <a:t>Your team has received the AI insider threat alert. You have reviewed the flagged behaviors. You now know the employee is a cybersecurity student. Your manager wants a recommendation before the end of the day.</a:t>
            </a:r>
            <a:endParaRPr b="0" i="0" sz="1500" u="none" cap="none" strike="noStrike">
              <a:solidFill>
                <a:schemeClr val="dk1"/>
              </a:solidFill>
              <a:latin typeface="Calibri"/>
              <a:ea typeface="Calibri"/>
              <a:cs typeface="Calibri"/>
              <a:sym typeface="Calibri"/>
            </a:endParaRPr>
          </a:p>
        </p:txBody>
      </p:sp>
      <p:sp>
        <p:nvSpPr>
          <p:cNvPr id="407" name="Google Shape;407;p29"/>
          <p:cNvSpPr/>
          <p:nvPr/>
        </p:nvSpPr>
        <p:spPr>
          <a:xfrm>
            <a:off x="457200" y="2743200"/>
            <a:ext cx="11247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Discussion Questions</a:t>
            </a:r>
            <a:endParaRPr b="0" i="0" sz="1600" u="none" cap="none" strike="noStrike">
              <a:solidFill>
                <a:schemeClr val="dk1"/>
              </a:solidFill>
              <a:latin typeface="Calibri"/>
              <a:ea typeface="Calibri"/>
              <a:cs typeface="Calibri"/>
              <a:sym typeface="Calibri"/>
            </a:endParaRPr>
          </a:p>
        </p:txBody>
      </p:sp>
      <p:sp>
        <p:nvSpPr>
          <p:cNvPr id="408" name="Google Shape;408;p29"/>
          <p:cNvSpPr/>
          <p:nvPr/>
        </p:nvSpPr>
        <p:spPr>
          <a:xfrm>
            <a:off x="457200" y="3154680"/>
            <a:ext cx="11247120" cy="34747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GOVERN: Who in your organization has the authority to authorize the next investigative step? Who should NOT make this decision alone?</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MAP: Who are all the stakeholders? What additional information do you need before making a recommendation?</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MEASURE: What would you need to know about the AI system's accuracy before trusting this alert?</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MANAGE: What is your team's recommendation? What action (if any) is proportionate, authorized, and ethically defensible?</a:t>
            </a:r>
            <a:endParaRPr b="0" i="0" sz="15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Accountability: Who signs off on whatever decision is made, and what documentation should exist?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13" name="Shape 413"/>
        <p:cNvGrpSpPr/>
        <p:nvPr/>
      </p:nvGrpSpPr>
      <p:grpSpPr>
        <a:xfrm>
          <a:off x="0" y="0"/>
          <a:ext cx="0" cy="0"/>
          <a:chOff x="0" y="0"/>
          <a:chExt cx="0" cy="0"/>
        </a:xfrm>
      </p:grpSpPr>
      <p:sp>
        <p:nvSpPr>
          <p:cNvPr id="414" name="Google Shape;414;p30"/>
          <p:cNvSpPr/>
          <p:nvPr/>
        </p:nvSpPr>
        <p:spPr>
          <a:xfrm>
            <a:off x="457200" y="32004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AI Risk Management: Principles to Carry Forward</a:t>
            </a:r>
            <a:endParaRPr b="0" i="0" sz="2800" u="none" cap="none" strike="noStrike">
              <a:solidFill>
                <a:schemeClr val="dk1"/>
              </a:solidFill>
              <a:latin typeface="Calibri"/>
              <a:ea typeface="Calibri"/>
              <a:cs typeface="Calibri"/>
              <a:sym typeface="Calibri"/>
            </a:endParaRPr>
          </a:p>
        </p:txBody>
      </p:sp>
      <p:sp>
        <p:nvSpPr>
          <p:cNvPr id="415" name="Google Shape;415;p30"/>
          <p:cNvSpPr/>
          <p:nvPr/>
        </p:nvSpPr>
        <p:spPr>
          <a:xfrm>
            <a:off x="457200" y="100584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0"/>
          <p:cNvSpPr/>
          <p:nvPr/>
        </p:nvSpPr>
        <p:spPr>
          <a:xfrm>
            <a:off x="457200" y="1097280"/>
            <a:ext cx="11247120" cy="5394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1. AI is a tool, not a decision-maker.</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Alerts, flags, and scores require human interpretation before any consequential action.</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2. The model sees behavior — not intent.</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Context that the system cannot access is exactly the context human judgment must provide.</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3. Bias is built in if you don't build it out.</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All AI systems reflect the assumptions in their training data. Those assumptions must be examined.</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0A896"/>
              </a:buClr>
              <a:buSzPts val="1700"/>
              <a:buFont typeface="Calibri"/>
              <a:buNone/>
            </a:pPr>
            <a:r>
              <a:rPr b="1" i="0" lang="en-US" sz="1700" u="none" cap="none" strike="noStrike">
                <a:solidFill>
                  <a:srgbClr val="00A896"/>
                </a:solidFill>
                <a:latin typeface="Calibri"/>
                <a:ea typeface="Calibri"/>
                <a:cs typeface="Calibri"/>
                <a:sym typeface="Calibri"/>
              </a:rPr>
              <a:t>4. Authorization is not optional.</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"The AI said so" does not constitute authorization to investigate, discipline, or terminate.</a:t>
            </a:r>
            <a:endParaRPr b="0" i="0" sz="17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4A261"/>
              </a:buClr>
              <a:buSzPts val="1700"/>
              <a:buFont typeface="Calibri"/>
              <a:buNone/>
            </a:pPr>
            <a:r>
              <a:rPr b="1" i="0" lang="en-US" sz="1700" u="none" cap="none" strike="noStrike">
                <a:solidFill>
                  <a:srgbClr val="F4A261"/>
                </a:solidFill>
                <a:latin typeface="Calibri"/>
                <a:ea typeface="Calibri"/>
                <a:cs typeface="Calibri"/>
                <a:sym typeface="Calibri"/>
              </a:rPr>
              <a:t>5. Professionals remain accountable.</a:t>
            </a:r>
            <a:endParaRPr b="0" i="0" sz="17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E8EDF2"/>
              </a:buClr>
              <a:buSzPts val="1700"/>
              <a:buFont typeface="Calibri"/>
              <a:buChar char="•"/>
            </a:pPr>
            <a:r>
              <a:rPr b="0" i="0" lang="en-US" sz="1700" u="none" cap="none" strike="noStrike">
                <a:solidFill>
                  <a:srgbClr val="E8EDF2"/>
                </a:solidFill>
                <a:latin typeface="Calibri"/>
                <a:ea typeface="Calibri"/>
                <a:cs typeface="Calibri"/>
                <a:sym typeface="Calibri"/>
              </a:rPr>
              <a:t>Deploying AI does not transfer ethical or legal accountability to the algorithm.</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20" name="Shape 420"/>
        <p:cNvGrpSpPr/>
        <p:nvPr/>
      </p:nvGrpSpPr>
      <p:grpSpPr>
        <a:xfrm>
          <a:off x="0" y="0"/>
          <a:ext cx="0" cy="0"/>
          <a:chOff x="0" y="0"/>
          <a:chExt cx="0" cy="0"/>
        </a:xfrm>
      </p:grpSpPr>
      <p:sp>
        <p:nvSpPr>
          <p:cNvPr id="421" name="Google Shape;421;p31"/>
          <p:cNvSpPr/>
          <p:nvPr/>
        </p:nvSpPr>
        <p:spPr>
          <a:xfrm>
            <a:off x="0" y="0"/>
            <a:ext cx="12192000" cy="6858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1"/>
          <p:cNvSpPr/>
          <p:nvPr/>
        </p:nvSpPr>
        <p:spPr>
          <a:xfrm>
            <a:off x="457200" y="114300"/>
            <a:ext cx="112471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2000"/>
              <a:buFont typeface="Calibri"/>
              <a:buNone/>
            </a:pPr>
            <a:r>
              <a:rPr b="1" i="0" lang="en-US" sz="2000" u="none" cap="none" strike="noStrike">
                <a:solidFill>
                  <a:srgbClr val="0D1B2A"/>
                </a:solidFill>
                <a:latin typeface="Calibri"/>
                <a:ea typeface="Calibri"/>
                <a:cs typeface="Calibri"/>
                <a:sym typeface="Calibri"/>
              </a:rPr>
              <a:t>BEFORE YOU LEAVE WEEK 1</a:t>
            </a:r>
            <a:endParaRPr/>
          </a:p>
        </p:txBody>
      </p:sp>
      <p:sp>
        <p:nvSpPr>
          <p:cNvPr id="423" name="Google Shape;423;p31"/>
          <p:cNvSpPr/>
          <p:nvPr/>
        </p:nvSpPr>
        <p:spPr>
          <a:xfrm>
            <a:off x="457200" y="776160"/>
            <a:ext cx="11247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Four Statements You Should Be Able to Explain</a:t>
            </a:r>
            <a:endParaRPr/>
          </a:p>
        </p:txBody>
      </p:sp>
      <p:sp>
        <p:nvSpPr>
          <p:cNvPr id="424" name="Google Shape;424;p31"/>
          <p:cNvSpPr/>
          <p:nvPr/>
        </p:nvSpPr>
        <p:spPr>
          <a:xfrm>
            <a:off x="457200" y="1505520"/>
            <a:ext cx="1124712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BA3B8"/>
              </a:buClr>
              <a:buSzPts val="1600"/>
              <a:buFont typeface="Calibri"/>
              <a:buNone/>
            </a:pPr>
            <a:r>
              <a:rPr b="0" i="1" lang="en-US" sz="1600" u="none" cap="none" strike="noStrike">
                <a:solidFill>
                  <a:srgbClr val="8BA3B8"/>
                </a:solidFill>
                <a:latin typeface="Calibri"/>
                <a:ea typeface="Calibri"/>
                <a:cs typeface="Calibri"/>
                <a:sym typeface="Calibri"/>
              </a:rPr>
              <a:t>If you can explain why these are true, you understand the ethical foundation of this course.</a:t>
            </a:r>
            <a:endParaRPr/>
          </a:p>
        </p:txBody>
      </p:sp>
      <p:sp>
        <p:nvSpPr>
          <p:cNvPr id="425" name="Google Shape;425;p31"/>
          <p:cNvSpPr/>
          <p:nvPr/>
        </p:nvSpPr>
        <p:spPr>
          <a:xfrm>
            <a:off x="457200" y="1981200"/>
            <a:ext cx="5600700" cy="68580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1"/>
          <p:cNvSpPr/>
          <p:nvPr/>
        </p:nvSpPr>
        <p:spPr>
          <a:xfrm>
            <a:off x="457200" y="1981200"/>
            <a:ext cx="5600700" cy="85725"/>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1"/>
          <p:cNvSpPr/>
          <p:nvPr/>
        </p:nvSpPr>
        <p:spPr>
          <a:xfrm>
            <a:off x="571500" y="2066925"/>
            <a:ext cx="5372100" cy="5712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600"/>
              <a:buFont typeface="Calibri"/>
              <a:buNone/>
            </a:pPr>
            <a:r>
              <a:rPr b="1" i="0" lang="en-US" sz="1600" u="none" cap="none" strike="noStrike">
                <a:solidFill>
                  <a:srgbClr val="E8EDF2"/>
                </a:solidFill>
                <a:latin typeface="Calibri"/>
                <a:ea typeface="Calibri"/>
                <a:cs typeface="Calibri"/>
                <a:sym typeface="Calibri"/>
              </a:rPr>
              <a:t>Technical capability does not equal authorization.</a:t>
            </a:r>
            <a:endParaRPr/>
          </a:p>
        </p:txBody>
      </p:sp>
      <p:sp>
        <p:nvSpPr>
          <p:cNvPr id="428" name="Google Shape;428;p31"/>
          <p:cNvSpPr/>
          <p:nvPr/>
        </p:nvSpPr>
        <p:spPr>
          <a:xfrm>
            <a:off x="6172200" y="1981200"/>
            <a:ext cx="5600700" cy="68580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1"/>
          <p:cNvSpPr/>
          <p:nvPr/>
        </p:nvSpPr>
        <p:spPr>
          <a:xfrm>
            <a:off x="6172200" y="1981200"/>
            <a:ext cx="5600700" cy="85725"/>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1"/>
          <p:cNvSpPr/>
          <p:nvPr/>
        </p:nvSpPr>
        <p:spPr>
          <a:xfrm>
            <a:off x="6286500" y="2066925"/>
            <a:ext cx="5372100" cy="5712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600"/>
              <a:buFont typeface="Calibri"/>
              <a:buNone/>
            </a:pPr>
            <a:r>
              <a:rPr b="1" i="0" lang="en-US" sz="1600" u="none" cap="none" strike="noStrike">
                <a:solidFill>
                  <a:srgbClr val="E8EDF2"/>
                </a:solidFill>
                <a:latin typeface="Calibri"/>
                <a:ea typeface="Calibri"/>
                <a:cs typeface="Calibri"/>
                <a:sym typeface="Calibri"/>
              </a:rPr>
              <a:t>Legal does not automatically mean ethical.</a:t>
            </a:r>
            <a:endParaRPr/>
          </a:p>
        </p:txBody>
      </p:sp>
      <p:sp>
        <p:nvSpPr>
          <p:cNvPr id="431" name="Google Shape;431;p31"/>
          <p:cNvSpPr/>
          <p:nvPr/>
        </p:nvSpPr>
        <p:spPr>
          <a:xfrm>
            <a:off x="457200" y="2781360"/>
            <a:ext cx="5600700" cy="68580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1"/>
          <p:cNvSpPr/>
          <p:nvPr/>
        </p:nvSpPr>
        <p:spPr>
          <a:xfrm>
            <a:off x="457200" y="2781360"/>
            <a:ext cx="5600700" cy="85725"/>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1"/>
          <p:cNvSpPr/>
          <p:nvPr/>
        </p:nvSpPr>
        <p:spPr>
          <a:xfrm>
            <a:off x="571500" y="2867085"/>
            <a:ext cx="5372100" cy="5712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600"/>
              <a:buFont typeface="Calibri"/>
              <a:buNone/>
            </a:pPr>
            <a:r>
              <a:rPr b="1" i="0" lang="en-US" sz="1600" u="none" cap="none" strike="noStrike">
                <a:solidFill>
                  <a:srgbClr val="E8EDF2"/>
                </a:solidFill>
                <a:latin typeface="Calibri"/>
                <a:ea typeface="Calibri"/>
                <a:cs typeface="Calibri"/>
                <a:sym typeface="Calibri"/>
              </a:rPr>
              <a:t>AI-generated does not automatically mean accurate.</a:t>
            </a:r>
            <a:endParaRPr/>
          </a:p>
        </p:txBody>
      </p:sp>
      <p:sp>
        <p:nvSpPr>
          <p:cNvPr id="434" name="Google Shape;434;p31"/>
          <p:cNvSpPr/>
          <p:nvPr/>
        </p:nvSpPr>
        <p:spPr>
          <a:xfrm>
            <a:off x="6172200" y="2781360"/>
            <a:ext cx="5600700" cy="68580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1"/>
          <p:cNvSpPr/>
          <p:nvPr/>
        </p:nvSpPr>
        <p:spPr>
          <a:xfrm>
            <a:off x="6172200" y="2781360"/>
            <a:ext cx="5600700" cy="85725"/>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1"/>
          <p:cNvSpPr/>
          <p:nvPr/>
        </p:nvSpPr>
        <p:spPr>
          <a:xfrm>
            <a:off x="6286500" y="2867085"/>
            <a:ext cx="5372100" cy="5712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600"/>
              <a:buFont typeface="Calibri"/>
              <a:buNone/>
            </a:pPr>
            <a:r>
              <a:rPr b="1" i="0" lang="en-US" sz="1600" u="none" cap="none" strike="noStrike">
                <a:solidFill>
                  <a:srgbClr val="E8EDF2"/>
                </a:solidFill>
                <a:latin typeface="Calibri"/>
                <a:ea typeface="Calibri"/>
                <a:cs typeface="Calibri"/>
                <a:sym typeface="Calibri"/>
              </a:rPr>
              <a:t>Professional judgment cannot simply be outsourced to a tool.</a:t>
            </a:r>
            <a:endParaRPr/>
          </a:p>
        </p:txBody>
      </p:sp>
      <p:sp>
        <p:nvSpPr>
          <p:cNvPr id="437" name="Google Shape;437;p31"/>
          <p:cNvSpPr/>
          <p:nvPr/>
        </p:nvSpPr>
        <p:spPr>
          <a:xfrm>
            <a:off x="457200" y="3581520"/>
            <a:ext cx="11247120" cy="335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Exit Ticket — turn in before you leave:</a:t>
            </a:r>
            <a:endParaRPr/>
          </a:p>
          <a:p>
            <a:pPr indent="-342900" lvl="0" marL="342900" marR="0" rtl="0" algn="l">
              <a:spcBef>
                <a:spcPts val="2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Choose one of the four statements. Write 3–4 sentences that explain why it is true using a specific example from today’s case or discussion.</a:t>
            </a:r>
            <a:endParaRPr/>
          </a:p>
          <a:p>
            <a:pPr indent="-342900" lvl="0" marL="342900" marR="0" rtl="0" algn="l">
              <a:spcBef>
                <a:spcPts val="400"/>
              </a:spcBef>
              <a:spcAft>
                <a:spcPts val="0"/>
              </a:spcAft>
              <a:buClr>
                <a:srgbClr val="E8EDF2"/>
              </a:buClr>
              <a:buSzPts val="1500"/>
              <a:buFont typeface="Calibri"/>
              <a:buChar char="•"/>
            </a:pPr>
            <a:r>
              <a:rPr b="0" i="0" lang="en-US" sz="1500" u="none" cap="none" strike="noStrike">
                <a:solidFill>
                  <a:srgbClr val="E8EDF2"/>
                </a:solidFill>
                <a:latin typeface="Calibri"/>
                <a:ea typeface="Calibri"/>
                <a:cs typeface="Calibri"/>
                <a:sym typeface="Calibri"/>
              </a:rPr>
              <a:t>Be specific. “Because AI is not always right” is not enough. Show that you understand what the statement means and why it matters for cybersecurity professionals.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41" name="Shape 441"/>
        <p:cNvGrpSpPr/>
        <p:nvPr/>
      </p:nvGrpSpPr>
      <p:grpSpPr>
        <a:xfrm>
          <a:off x="0" y="0"/>
          <a:ext cx="0" cy="0"/>
          <a:chOff x="0" y="0"/>
          <a:chExt cx="0" cy="0"/>
        </a:xfrm>
      </p:grpSpPr>
      <p:sp>
        <p:nvSpPr>
          <p:cNvPr id="442" name="Google Shape;442;p32"/>
          <p:cNvSpPr/>
          <p:nvPr/>
        </p:nvSpPr>
        <p:spPr>
          <a:xfrm>
            <a:off x="457200" y="228600"/>
            <a:ext cx="11247120" cy="57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2600"/>
              <a:buFont typeface="Cambria"/>
              <a:buNone/>
            </a:pPr>
            <a:r>
              <a:rPr b="1" i="0" lang="en-US" sz="2600" u="none" cap="none" strike="noStrike">
                <a:solidFill>
                  <a:srgbClr val="F4A261"/>
                </a:solidFill>
                <a:latin typeface="Cambria"/>
                <a:ea typeface="Cambria"/>
                <a:cs typeface="Cambria"/>
                <a:sym typeface="Cambria"/>
              </a:rPr>
              <a:t>Unpacking the Four Statements</a:t>
            </a:r>
            <a:endParaRPr/>
          </a:p>
        </p:txBody>
      </p:sp>
      <p:sp>
        <p:nvSpPr>
          <p:cNvPr id="443" name="Google Shape;443;p32"/>
          <p:cNvSpPr/>
          <p:nvPr/>
        </p:nvSpPr>
        <p:spPr>
          <a:xfrm>
            <a:off x="457200" y="80010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2"/>
          <p:cNvSpPr/>
          <p:nvPr/>
        </p:nvSpPr>
        <p:spPr>
          <a:xfrm>
            <a:off x="457200" y="876300"/>
            <a:ext cx="5600700" cy="2781360"/>
          </a:xfrm>
          <a:prstGeom prst="rect">
            <a:avLst/>
          </a:prstGeom>
          <a:solidFill>
            <a:srgbClr val="15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2"/>
          <p:cNvSpPr/>
          <p:nvPr/>
        </p:nvSpPr>
        <p:spPr>
          <a:xfrm>
            <a:off x="457200" y="876300"/>
            <a:ext cx="5600700" cy="85725"/>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2"/>
          <p:cNvSpPr/>
          <p:nvPr/>
        </p:nvSpPr>
        <p:spPr>
          <a:xfrm>
            <a:off x="571500" y="962025"/>
            <a:ext cx="5372100" cy="2667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Technical capability does not equal authorization.</a:t>
            </a:r>
            <a:endParaRPr/>
          </a:p>
          <a:p>
            <a:pPr indent="0" lvl="0" marL="0" marR="0" rtl="0" algn="l">
              <a:spcBef>
                <a:spcPts val="200"/>
              </a:spcBef>
              <a:spcAft>
                <a:spcPts val="0"/>
              </a:spcAft>
              <a:buClr>
                <a:srgbClr val="8BA3B8"/>
              </a:buClr>
              <a:buSzPts val="1300"/>
              <a:buFont typeface="Calibri"/>
              <a:buNone/>
            </a:pPr>
            <a:r>
              <a:rPr b="0" i="1" lang="en-US" sz="1300" u="none" cap="none" strike="noStrike">
                <a:solidFill>
                  <a:srgbClr val="8BA3B8"/>
                </a:solidFill>
                <a:latin typeface="Calibri"/>
                <a:ea typeface="Calibri"/>
                <a:cs typeface="Calibri"/>
                <a:sym typeface="Calibri"/>
              </a:rPr>
              <a:t>What it means:</a:t>
            </a:r>
            <a:endParaRPr/>
          </a:p>
          <a:p>
            <a:pPr indent="-228600" lvl="0" marL="228600" marR="0" rtl="0" algn="l">
              <a:spcBef>
                <a:spcPts val="3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Access to a system, data, or account does not mean you are permitted to use that access.</a:t>
            </a:r>
            <a:endParaRPr/>
          </a:p>
          <a:p>
            <a:pPr indent="-228600" lvl="0" marL="228600" marR="0" rtl="0" algn="l">
              <a:spcBef>
                <a:spcPts val="3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Authorization requires explicit permission within a defined scope, granted by someone with the authority to grant it.</a:t>
            </a:r>
            <a:endParaRPr/>
          </a:p>
          <a:p>
            <a:pPr indent="0" lvl="0" marL="0" marR="0" rtl="0" algn="l">
              <a:spcBef>
                <a:spcPts val="300"/>
              </a:spcBef>
              <a:spcAft>
                <a:spcPts val="0"/>
              </a:spcAft>
              <a:buClr>
                <a:srgbClr val="8BA3B8"/>
              </a:buClr>
              <a:buSzPts val="1300"/>
              <a:buFont typeface="Calibri"/>
              <a:buNone/>
            </a:pPr>
            <a:r>
              <a:rPr b="0" i="1" lang="en-US" sz="1300" u="none" cap="none" strike="noStrike">
                <a:solidFill>
                  <a:srgbClr val="8BA3B8"/>
                </a:solidFill>
                <a:latin typeface="Calibri"/>
                <a:ea typeface="Calibri"/>
                <a:cs typeface="Calibri"/>
                <a:sym typeface="Calibri"/>
              </a:rPr>
              <a:t>From today’s case:</a:t>
            </a:r>
            <a:endParaRPr/>
          </a:p>
          <a:p>
            <a:pPr indent="-228600" lvl="0" marL="228600" marR="0" rtl="0" algn="l">
              <a:spcBef>
                <a:spcPts val="2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The security team can technically read the employee’s login logs, examine their VMs, and intercept their traffic. None of that is authorized without proper approval and legal review.</a:t>
            </a:r>
            <a:endParaRPr/>
          </a:p>
          <a:p>
            <a:pPr indent="-228600" lvl="0" marL="228600" marR="0" rtl="0" algn="l">
              <a:spcBef>
                <a:spcPts val="3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“I can access it” is the starting point of a question, not the answer to one.</a:t>
            </a:r>
            <a:endParaRPr/>
          </a:p>
        </p:txBody>
      </p:sp>
      <p:sp>
        <p:nvSpPr>
          <p:cNvPr id="447" name="Google Shape;447;p32"/>
          <p:cNvSpPr/>
          <p:nvPr/>
        </p:nvSpPr>
        <p:spPr>
          <a:xfrm>
            <a:off x="6172200" y="876300"/>
            <a:ext cx="5600700" cy="2781360"/>
          </a:xfrm>
          <a:prstGeom prst="rect">
            <a:avLst/>
          </a:prstGeom>
          <a:solidFill>
            <a:srgbClr val="15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2"/>
          <p:cNvSpPr/>
          <p:nvPr/>
        </p:nvSpPr>
        <p:spPr>
          <a:xfrm>
            <a:off x="6172200" y="876300"/>
            <a:ext cx="5600700" cy="85725"/>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2"/>
          <p:cNvSpPr/>
          <p:nvPr/>
        </p:nvSpPr>
        <p:spPr>
          <a:xfrm>
            <a:off x="6286500" y="962025"/>
            <a:ext cx="5372100" cy="2667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D166"/>
              </a:buClr>
              <a:buSzPts val="1500"/>
              <a:buFont typeface="Calibri"/>
              <a:buNone/>
            </a:pPr>
            <a:r>
              <a:rPr b="1" i="0" lang="en-US" sz="1500" u="none" cap="none" strike="noStrike">
                <a:solidFill>
                  <a:srgbClr val="FFD166"/>
                </a:solidFill>
                <a:latin typeface="Calibri"/>
                <a:ea typeface="Calibri"/>
                <a:cs typeface="Calibri"/>
                <a:sym typeface="Calibri"/>
              </a:rPr>
              <a:t>Legal does not automatically mean ethical.</a:t>
            </a:r>
            <a:endParaRPr/>
          </a:p>
          <a:p>
            <a:pPr indent="0" lvl="0" marL="0" marR="0" rtl="0" algn="l">
              <a:spcBef>
                <a:spcPts val="200"/>
              </a:spcBef>
              <a:spcAft>
                <a:spcPts val="0"/>
              </a:spcAft>
              <a:buClr>
                <a:srgbClr val="8BA3B8"/>
              </a:buClr>
              <a:buSzPts val="1300"/>
              <a:buFont typeface="Calibri"/>
              <a:buNone/>
            </a:pPr>
            <a:r>
              <a:rPr b="0" i="1" lang="en-US" sz="1300" u="none" cap="none" strike="noStrike">
                <a:solidFill>
                  <a:srgbClr val="8BA3B8"/>
                </a:solidFill>
                <a:latin typeface="Calibri"/>
                <a:ea typeface="Calibri"/>
                <a:cs typeface="Calibri"/>
                <a:sym typeface="Calibri"/>
              </a:rPr>
              <a:t>What it means:</a:t>
            </a:r>
            <a:endParaRPr/>
          </a:p>
          <a:p>
            <a:pPr indent="-228600" lvl="0" marL="228600" marR="0" rtl="0" algn="l">
              <a:spcBef>
                <a:spcPts val="3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Law sets a floor, not a ceiling. An action can be legally permissible and still violate professional ethics, employee rights, or the public interest.</a:t>
            </a:r>
            <a:endParaRPr/>
          </a:p>
          <a:p>
            <a:pPr indent="-228600" lvl="0" marL="228600" marR="0" rtl="0" algn="l">
              <a:spcBef>
                <a:spcPts val="3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Professional codes of ethics exist precisely because law alone is insufficient to govern complex decisions.</a:t>
            </a:r>
            <a:endParaRPr/>
          </a:p>
          <a:p>
            <a:pPr indent="0" lvl="0" marL="0" marR="0" rtl="0" algn="l">
              <a:spcBef>
                <a:spcPts val="300"/>
              </a:spcBef>
              <a:spcAft>
                <a:spcPts val="0"/>
              </a:spcAft>
              <a:buClr>
                <a:srgbClr val="8BA3B8"/>
              </a:buClr>
              <a:buSzPts val="1300"/>
              <a:buFont typeface="Calibri"/>
              <a:buNone/>
            </a:pPr>
            <a:r>
              <a:rPr b="0" i="1" lang="en-US" sz="1300" u="none" cap="none" strike="noStrike">
                <a:solidFill>
                  <a:srgbClr val="8BA3B8"/>
                </a:solidFill>
                <a:latin typeface="Calibri"/>
                <a:ea typeface="Calibri"/>
                <a:cs typeface="Calibri"/>
                <a:sym typeface="Calibri"/>
              </a:rPr>
              <a:t>From today’s case:</a:t>
            </a:r>
            <a:endParaRPr/>
          </a:p>
          <a:p>
            <a:pPr indent="-228600" lvl="0" marL="228600" marR="0" rtl="0" algn="l">
              <a:spcBef>
                <a:spcPts val="2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Monitoring an employee’s network activity may be legal under an employer’s acceptable use policy. Whether it is proportionate, fair, and consistent with the employee’s dignity is an ethical question the law does not answer.</a:t>
            </a:r>
            <a:endParaRPr/>
          </a:p>
        </p:txBody>
      </p:sp>
      <p:sp>
        <p:nvSpPr>
          <p:cNvPr id="450" name="Google Shape;450;p32"/>
          <p:cNvSpPr/>
          <p:nvPr/>
        </p:nvSpPr>
        <p:spPr>
          <a:xfrm>
            <a:off x="457200" y="3733020"/>
            <a:ext cx="5600700" cy="2895660"/>
          </a:xfrm>
          <a:prstGeom prst="rect">
            <a:avLst/>
          </a:prstGeom>
          <a:solidFill>
            <a:srgbClr val="15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2"/>
          <p:cNvSpPr/>
          <p:nvPr/>
        </p:nvSpPr>
        <p:spPr>
          <a:xfrm>
            <a:off x="457200" y="3733020"/>
            <a:ext cx="5600700" cy="85725"/>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2"/>
          <p:cNvSpPr/>
          <p:nvPr/>
        </p:nvSpPr>
        <p:spPr>
          <a:xfrm>
            <a:off x="571500" y="3818745"/>
            <a:ext cx="5372100" cy="2781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AI-generated does not automatically mean accurate.</a:t>
            </a:r>
            <a:endParaRPr/>
          </a:p>
          <a:p>
            <a:pPr indent="0" lvl="0" marL="0" marR="0" rtl="0" algn="l">
              <a:spcBef>
                <a:spcPts val="200"/>
              </a:spcBef>
              <a:spcAft>
                <a:spcPts val="0"/>
              </a:spcAft>
              <a:buClr>
                <a:srgbClr val="8BA3B8"/>
              </a:buClr>
              <a:buSzPts val="1300"/>
              <a:buFont typeface="Calibri"/>
              <a:buNone/>
            </a:pPr>
            <a:r>
              <a:rPr b="0" i="1" lang="en-US" sz="1300" u="none" cap="none" strike="noStrike">
                <a:solidFill>
                  <a:srgbClr val="8BA3B8"/>
                </a:solidFill>
                <a:latin typeface="Calibri"/>
                <a:ea typeface="Calibri"/>
                <a:cs typeface="Calibri"/>
                <a:sym typeface="Calibri"/>
              </a:rPr>
              <a:t>What it means:</a:t>
            </a:r>
            <a:endParaRPr/>
          </a:p>
          <a:p>
            <a:pPr indent="-228600" lvl="0" marL="228600" marR="0" rtl="0" algn="l">
              <a:spcBef>
                <a:spcPts val="3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AI systems produce outputs based on patterns and probabilities, not truth. A high-confidence alert is not a finding of fact.</a:t>
            </a:r>
            <a:endParaRPr/>
          </a:p>
          <a:p>
            <a:pPr indent="-228600" lvl="0" marL="228600" marR="0" rtl="0" algn="l">
              <a:spcBef>
                <a:spcPts val="3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All AI systems have error rates. Without knowing the false positive and false negative rates, a single alert tells you very little.</a:t>
            </a:r>
            <a:endParaRPr/>
          </a:p>
          <a:p>
            <a:pPr indent="0" lvl="0" marL="0" marR="0" rtl="0" algn="l">
              <a:spcBef>
                <a:spcPts val="300"/>
              </a:spcBef>
              <a:spcAft>
                <a:spcPts val="0"/>
              </a:spcAft>
              <a:buClr>
                <a:srgbClr val="8BA3B8"/>
              </a:buClr>
              <a:buSzPts val="1300"/>
              <a:buFont typeface="Calibri"/>
              <a:buNone/>
            </a:pPr>
            <a:r>
              <a:rPr b="0" i="1" lang="en-US" sz="1300" u="none" cap="none" strike="noStrike">
                <a:solidFill>
                  <a:srgbClr val="8BA3B8"/>
                </a:solidFill>
                <a:latin typeface="Calibri"/>
                <a:ea typeface="Calibri"/>
                <a:cs typeface="Calibri"/>
                <a:sym typeface="Calibri"/>
              </a:rPr>
              <a:t>From today’s case:</a:t>
            </a:r>
            <a:endParaRPr/>
          </a:p>
          <a:p>
            <a:pPr indent="-228600" lvl="0" marL="228600" marR="0" rtl="0" algn="l">
              <a:spcBef>
                <a:spcPts val="2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The AI flagged a cybersecurity student doing legitimate coursework. Every behavior it cited had an innocent explanation the system could not see. “90% confidence” does not mean the alert is correct — it means the algorithm matched a pattern.</a:t>
            </a:r>
            <a:endParaRPr/>
          </a:p>
        </p:txBody>
      </p:sp>
      <p:sp>
        <p:nvSpPr>
          <p:cNvPr id="453" name="Google Shape;453;p32"/>
          <p:cNvSpPr/>
          <p:nvPr/>
        </p:nvSpPr>
        <p:spPr>
          <a:xfrm>
            <a:off x="6172200" y="3733020"/>
            <a:ext cx="5600700" cy="2895660"/>
          </a:xfrm>
          <a:prstGeom prst="rect">
            <a:avLst/>
          </a:prstGeom>
          <a:solidFill>
            <a:srgbClr val="15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2"/>
          <p:cNvSpPr/>
          <p:nvPr/>
        </p:nvSpPr>
        <p:spPr>
          <a:xfrm>
            <a:off x="6172200" y="3733020"/>
            <a:ext cx="5600700" cy="85725"/>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2"/>
          <p:cNvSpPr/>
          <p:nvPr/>
        </p:nvSpPr>
        <p:spPr>
          <a:xfrm>
            <a:off x="6286500" y="3818745"/>
            <a:ext cx="5372100" cy="2781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C4B6"/>
              </a:buClr>
              <a:buSzPts val="1500"/>
              <a:buFont typeface="Calibri"/>
              <a:buNone/>
            </a:pPr>
            <a:r>
              <a:rPr b="1" i="0" lang="en-US" sz="1500" u="none" cap="none" strike="noStrike">
                <a:solidFill>
                  <a:srgbClr val="2EC4B6"/>
                </a:solidFill>
                <a:latin typeface="Calibri"/>
                <a:ea typeface="Calibri"/>
                <a:cs typeface="Calibri"/>
                <a:sym typeface="Calibri"/>
              </a:rPr>
              <a:t>Professional judgment cannot simply be outsourced to a tool.</a:t>
            </a:r>
            <a:endParaRPr/>
          </a:p>
          <a:p>
            <a:pPr indent="0" lvl="0" marL="0" marR="0" rtl="0" algn="l">
              <a:spcBef>
                <a:spcPts val="200"/>
              </a:spcBef>
              <a:spcAft>
                <a:spcPts val="0"/>
              </a:spcAft>
              <a:buClr>
                <a:srgbClr val="8BA3B8"/>
              </a:buClr>
              <a:buSzPts val="1300"/>
              <a:buFont typeface="Calibri"/>
              <a:buNone/>
            </a:pPr>
            <a:r>
              <a:rPr b="0" i="1" lang="en-US" sz="1300" u="none" cap="none" strike="noStrike">
                <a:solidFill>
                  <a:srgbClr val="8BA3B8"/>
                </a:solidFill>
                <a:latin typeface="Calibri"/>
                <a:ea typeface="Calibri"/>
                <a:cs typeface="Calibri"/>
                <a:sym typeface="Calibri"/>
              </a:rPr>
              <a:t>What it means:</a:t>
            </a:r>
            <a:endParaRPr/>
          </a:p>
          <a:p>
            <a:pPr indent="-228600" lvl="0" marL="228600" marR="0" rtl="0" algn="l">
              <a:spcBef>
                <a:spcPts val="3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Ethical and professional responsibility requires a human being to reason through the decision — its context, its stakeholders, its proportionality, and its consequences.</a:t>
            </a:r>
            <a:endParaRPr/>
          </a:p>
          <a:p>
            <a:pPr indent="-228600" lvl="0" marL="228600" marR="0" rtl="0" algn="l">
              <a:spcBef>
                <a:spcPts val="3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Automation bias — the tendency to defer to algorithmic outputs — does not transfer the professional’s accountability. It just means they failed to exercise it.</a:t>
            </a:r>
            <a:endParaRPr/>
          </a:p>
          <a:p>
            <a:pPr indent="0" lvl="0" marL="0" marR="0" rtl="0" algn="l">
              <a:spcBef>
                <a:spcPts val="300"/>
              </a:spcBef>
              <a:spcAft>
                <a:spcPts val="0"/>
              </a:spcAft>
              <a:buClr>
                <a:srgbClr val="8BA3B8"/>
              </a:buClr>
              <a:buSzPts val="1300"/>
              <a:buFont typeface="Calibri"/>
              <a:buNone/>
            </a:pPr>
            <a:r>
              <a:rPr b="0" i="1" lang="en-US" sz="1300" u="none" cap="none" strike="noStrike">
                <a:solidFill>
                  <a:srgbClr val="8BA3B8"/>
                </a:solidFill>
                <a:latin typeface="Calibri"/>
                <a:ea typeface="Calibri"/>
                <a:cs typeface="Calibri"/>
                <a:sym typeface="Calibri"/>
              </a:rPr>
              <a:t>From today’s case:</a:t>
            </a:r>
            <a:endParaRPr/>
          </a:p>
          <a:p>
            <a:pPr indent="-228600" lvl="0" marL="228600" marR="0" rtl="0" algn="l">
              <a:spcBef>
                <a:spcPts val="200"/>
              </a:spcBef>
              <a:spcAft>
                <a:spcPts val="0"/>
              </a:spcAft>
              <a:buClr>
                <a:srgbClr val="E8EDF2"/>
              </a:buClr>
              <a:buSzPts val="1300"/>
              <a:buFont typeface="Calibri"/>
              <a:buChar char="•"/>
            </a:pPr>
            <a:r>
              <a:rPr b="0" i="0" lang="en-US" sz="1300" u="none" cap="none" strike="noStrike">
                <a:solidFill>
                  <a:srgbClr val="E8EDF2"/>
                </a:solidFill>
                <a:latin typeface="Calibri"/>
                <a:ea typeface="Calibri"/>
                <a:cs typeface="Calibri"/>
                <a:sym typeface="Calibri"/>
              </a:rPr>
              <a:t>“The AI flagged it” is not a defense if the action harms an innocent person. The analyst, the manager, and the organization all bear responsibility for what happens next — regardless of what the system recommended.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60" name="Shape 460"/>
        <p:cNvGrpSpPr/>
        <p:nvPr/>
      </p:nvGrpSpPr>
      <p:grpSpPr>
        <a:xfrm>
          <a:off x="0" y="0"/>
          <a:ext cx="0" cy="0"/>
          <a:chOff x="0" y="0"/>
          <a:chExt cx="0" cy="0"/>
        </a:xfrm>
      </p:grpSpPr>
      <p:sp>
        <p:nvSpPr>
          <p:cNvPr id="461" name="Google Shape;461;p33"/>
          <p:cNvSpPr/>
          <p:nvPr/>
        </p:nvSpPr>
        <p:spPr>
          <a:xfrm>
            <a:off x="457200" y="22860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Class Meeting 2: Key Takeaways</a:t>
            </a:r>
            <a:endParaRPr b="0" i="0" sz="2800" u="none" cap="none" strike="noStrike">
              <a:solidFill>
                <a:schemeClr val="dk1"/>
              </a:solidFill>
              <a:latin typeface="Calibri"/>
              <a:ea typeface="Calibri"/>
              <a:cs typeface="Calibri"/>
              <a:sym typeface="Calibri"/>
            </a:endParaRPr>
          </a:p>
        </p:txBody>
      </p:sp>
      <p:sp>
        <p:nvSpPr>
          <p:cNvPr id="462" name="Google Shape;462;p33"/>
          <p:cNvSpPr/>
          <p:nvPr/>
        </p:nvSpPr>
        <p:spPr>
          <a:xfrm>
            <a:off x="457200" y="86868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3"/>
          <p:cNvSpPr/>
          <p:nvPr/>
        </p:nvSpPr>
        <p:spPr>
          <a:xfrm>
            <a:off x="457200" y="1005840"/>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3"/>
          <p:cNvSpPr/>
          <p:nvPr/>
        </p:nvSpPr>
        <p:spPr>
          <a:xfrm>
            <a:off x="457200" y="1005840"/>
            <a:ext cx="3749040" cy="64008"/>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3"/>
          <p:cNvSpPr/>
          <p:nvPr/>
        </p:nvSpPr>
        <p:spPr>
          <a:xfrm>
            <a:off x="594360" y="1115568"/>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Professional Ethics</a:t>
            </a:r>
            <a:endParaRPr b="0" i="0" sz="1500" u="none" cap="none" strike="noStrike">
              <a:solidFill>
                <a:schemeClr val="dk1"/>
              </a:solidFill>
              <a:latin typeface="Calibri"/>
              <a:ea typeface="Calibri"/>
              <a:cs typeface="Calibri"/>
              <a:sym typeface="Calibri"/>
            </a:endParaRPr>
          </a:p>
        </p:txBody>
      </p:sp>
      <p:sp>
        <p:nvSpPr>
          <p:cNvPr id="466" name="Google Shape;466;p33"/>
          <p:cNvSpPr/>
          <p:nvPr/>
        </p:nvSpPr>
        <p:spPr>
          <a:xfrm>
            <a:off x="594360" y="1508760"/>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Codes of ethics guide decisions under pressure. Competing duties are real — the public interest does not disappear because your employer asks you to ignore it.</a:t>
            </a:r>
            <a:endParaRPr b="0" i="0" sz="1300" u="none" cap="none" strike="noStrike">
              <a:solidFill>
                <a:schemeClr val="dk1"/>
              </a:solidFill>
              <a:latin typeface="Calibri"/>
              <a:ea typeface="Calibri"/>
              <a:cs typeface="Calibri"/>
              <a:sym typeface="Calibri"/>
            </a:endParaRPr>
          </a:p>
        </p:txBody>
      </p:sp>
      <p:sp>
        <p:nvSpPr>
          <p:cNvPr id="467" name="Google Shape;467;p33"/>
          <p:cNvSpPr/>
          <p:nvPr/>
        </p:nvSpPr>
        <p:spPr>
          <a:xfrm>
            <a:off x="4343400" y="1005840"/>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3"/>
          <p:cNvSpPr/>
          <p:nvPr/>
        </p:nvSpPr>
        <p:spPr>
          <a:xfrm>
            <a:off x="4343400" y="1005840"/>
            <a:ext cx="3749040" cy="64008"/>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3"/>
          <p:cNvSpPr/>
          <p:nvPr/>
        </p:nvSpPr>
        <p:spPr>
          <a:xfrm>
            <a:off x="4480560" y="1115568"/>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166"/>
              </a:buClr>
              <a:buSzPts val="1500"/>
              <a:buFont typeface="Calibri"/>
              <a:buNone/>
            </a:pPr>
            <a:r>
              <a:rPr b="1" i="0" lang="en-US" sz="1500" u="none" cap="none" strike="noStrike">
                <a:solidFill>
                  <a:srgbClr val="FFD166"/>
                </a:solidFill>
                <a:latin typeface="Calibri"/>
                <a:ea typeface="Calibri"/>
                <a:cs typeface="Calibri"/>
                <a:sym typeface="Calibri"/>
              </a:rPr>
              <a:t>Stakeholder Analysis</a:t>
            </a:r>
            <a:endParaRPr b="0" i="0" sz="1500" u="none" cap="none" strike="noStrike">
              <a:solidFill>
                <a:schemeClr val="dk1"/>
              </a:solidFill>
              <a:latin typeface="Calibri"/>
              <a:ea typeface="Calibri"/>
              <a:cs typeface="Calibri"/>
              <a:sym typeface="Calibri"/>
            </a:endParaRPr>
          </a:p>
        </p:txBody>
      </p:sp>
      <p:sp>
        <p:nvSpPr>
          <p:cNvPr id="470" name="Google Shape;470;p33"/>
          <p:cNvSpPr/>
          <p:nvPr/>
        </p:nvSpPr>
        <p:spPr>
          <a:xfrm>
            <a:off x="4480560" y="1508760"/>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Always ask who else is affected. The flagged employee, their family, other workers watching the outcome, and customers are all stakeholders the AI does not see.</a:t>
            </a:r>
            <a:endParaRPr b="0" i="0" sz="1300" u="none" cap="none" strike="noStrike">
              <a:solidFill>
                <a:schemeClr val="dk1"/>
              </a:solidFill>
              <a:latin typeface="Calibri"/>
              <a:ea typeface="Calibri"/>
              <a:cs typeface="Calibri"/>
              <a:sym typeface="Calibri"/>
            </a:endParaRPr>
          </a:p>
        </p:txBody>
      </p:sp>
      <p:sp>
        <p:nvSpPr>
          <p:cNvPr id="471" name="Google Shape;471;p33"/>
          <p:cNvSpPr/>
          <p:nvPr/>
        </p:nvSpPr>
        <p:spPr>
          <a:xfrm>
            <a:off x="8229600" y="1005840"/>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3"/>
          <p:cNvSpPr/>
          <p:nvPr/>
        </p:nvSpPr>
        <p:spPr>
          <a:xfrm>
            <a:off x="8229600" y="1005840"/>
            <a:ext cx="3749040" cy="64008"/>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3"/>
          <p:cNvSpPr/>
          <p:nvPr/>
        </p:nvSpPr>
        <p:spPr>
          <a:xfrm>
            <a:off x="8366760" y="1115568"/>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1500"/>
              <a:buFont typeface="Calibri"/>
              <a:buNone/>
            </a:pPr>
            <a:r>
              <a:rPr b="1" i="0" lang="en-US" sz="1500" u="none" cap="none" strike="noStrike">
                <a:solidFill>
                  <a:srgbClr val="F4A261"/>
                </a:solidFill>
                <a:latin typeface="Calibri"/>
                <a:ea typeface="Calibri"/>
                <a:cs typeface="Calibri"/>
                <a:sym typeface="Calibri"/>
              </a:rPr>
              <a:t>Privacy &amp; Authorization</a:t>
            </a:r>
            <a:endParaRPr b="0" i="0" sz="1500" u="none" cap="none" strike="noStrike">
              <a:solidFill>
                <a:schemeClr val="dk1"/>
              </a:solidFill>
              <a:latin typeface="Calibri"/>
              <a:ea typeface="Calibri"/>
              <a:cs typeface="Calibri"/>
              <a:sym typeface="Calibri"/>
            </a:endParaRPr>
          </a:p>
        </p:txBody>
      </p:sp>
      <p:sp>
        <p:nvSpPr>
          <p:cNvPr id="474" name="Google Shape;474;p33"/>
          <p:cNvSpPr/>
          <p:nvPr/>
        </p:nvSpPr>
        <p:spPr>
          <a:xfrm>
            <a:off x="8366760" y="1508760"/>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"I can access it" is not authorization. Every investigative step requires explicit authority proportionate to the suspected threat.</a:t>
            </a:r>
            <a:endParaRPr b="0" i="0" sz="1300" u="none" cap="none" strike="noStrike">
              <a:solidFill>
                <a:schemeClr val="dk1"/>
              </a:solidFill>
              <a:latin typeface="Calibri"/>
              <a:ea typeface="Calibri"/>
              <a:cs typeface="Calibri"/>
              <a:sym typeface="Calibri"/>
            </a:endParaRPr>
          </a:p>
        </p:txBody>
      </p:sp>
      <p:sp>
        <p:nvSpPr>
          <p:cNvPr id="475" name="Google Shape;475;p33"/>
          <p:cNvSpPr/>
          <p:nvPr/>
        </p:nvSpPr>
        <p:spPr>
          <a:xfrm>
            <a:off x="457200" y="3547872"/>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3"/>
          <p:cNvSpPr/>
          <p:nvPr/>
        </p:nvSpPr>
        <p:spPr>
          <a:xfrm>
            <a:off x="457200" y="3547872"/>
            <a:ext cx="3749040" cy="64008"/>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3"/>
          <p:cNvSpPr/>
          <p:nvPr/>
        </p:nvSpPr>
        <p:spPr>
          <a:xfrm>
            <a:off x="594360" y="3657600"/>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3946"/>
              </a:buClr>
              <a:buSzPts val="1500"/>
              <a:buFont typeface="Calibri"/>
              <a:buNone/>
            </a:pPr>
            <a:r>
              <a:rPr b="1" i="0" lang="en-US" sz="1500" u="none" cap="none" strike="noStrike">
                <a:solidFill>
                  <a:srgbClr val="E63946"/>
                </a:solidFill>
                <a:latin typeface="Calibri"/>
                <a:ea typeface="Calibri"/>
                <a:cs typeface="Calibri"/>
                <a:sym typeface="Calibri"/>
              </a:rPr>
              <a:t>AI Limitations</a:t>
            </a:r>
            <a:endParaRPr b="0" i="0" sz="1500" u="none" cap="none" strike="noStrike">
              <a:solidFill>
                <a:schemeClr val="dk1"/>
              </a:solidFill>
              <a:latin typeface="Calibri"/>
              <a:ea typeface="Calibri"/>
              <a:cs typeface="Calibri"/>
              <a:sym typeface="Calibri"/>
            </a:endParaRPr>
          </a:p>
        </p:txBody>
      </p:sp>
      <p:sp>
        <p:nvSpPr>
          <p:cNvPr id="478" name="Google Shape;478;p33"/>
          <p:cNvSpPr/>
          <p:nvPr/>
        </p:nvSpPr>
        <p:spPr>
          <a:xfrm>
            <a:off x="594360" y="4050792"/>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AI sees patterns, not people. False positives and false negatives both have real costs. Bias in, bias out.</a:t>
            </a:r>
            <a:endParaRPr b="0" i="0" sz="1300" u="none" cap="none" strike="noStrike">
              <a:solidFill>
                <a:schemeClr val="dk1"/>
              </a:solidFill>
              <a:latin typeface="Calibri"/>
              <a:ea typeface="Calibri"/>
              <a:cs typeface="Calibri"/>
              <a:sym typeface="Calibri"/>
            </a:endParaRPr>
          </a:p>
        </p:txBody>
      </p:sp>
      <p:sp>
        <p:nvSpPr>
          <p:cNvPr id="479" name="Google Shape;479;p33"/>
          <p:cNvSpPr/>
          <p:nvPr/>
        </p:nvSpPr>
        <p:spPr>
          <a:xfrm>
            <a:off x="4343400" y="3547872"/>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3"/>
          <p:cNvSpPr/>
          <p:nvPr/>
        </p:nvSpPr>
        <p:spPr>
          <a:xfrm>
            <a:off x="4343400" y="3547872"/>
            <a:ext cx="3749040" cy="64008"/>
          </a:xfrm>
          <a:prstGeom prst="rect">
            <a:avLst/>
          </a:prstGeom>
          <a:solidFill>
            <a:srgbClr val="2EC4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3"/>
          <p:cNvSpPr/>
          <p:nvPr/>
        </p:nvSpPr>
        <p:spPr>
          <a:xfrm>
            <a:off x="4480560" y="3657600"/>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4B6"/>
              </a:buClr>
              <a:buSzPts val="1500"/>
              <a:buFont typeface="Calibri"/>
              <a:buNone/>
            </a:pPr>
            <a:r>
              <a:rPr b="1" i="0" lang="en-US" sz="1500" u="none" cap="none" strike="noStrike">
                <a:solidFill>
                  <a:srgbClr val="2EC4B6"/>
                </a:solidFill>
                <a:latin typeface="Calibri"/>
                <a:ea typeface="Calibri"/>
                <a:cs typeface="Calibri"/>
                <a:sym typeface="Calibri"/>
              </a:rPr>
              <a:t>Human Oversight</a:t>
            </a:r>
            <a:endParaRPr b="0" i="0" sz="1500" u="none" cap="none" strike="noStrike">
              <a:solidFill>
                <a:schemeClr val="dk1"/>
              </a:solidFill>
              <a:latin typeface="Calibri"/>
              <a:ea typeface="Calibri"/>
              <a:cs typeface="Calibri"/>
              <a:sym typeface="Calibri"/>
            </a:endParaRPr>
          </a:p>
        </p:txBody>
      </p:sp>
      <p:sp>
        <p:nvSpPr>
          <p:cNvPr id="482" name="Google Shape;482;p33"/>
          <p:cNvSpPr/>
          <p:nvPr/>
        </p:nvSpPr>
        <p:spPr>
          <a:xfrm>
            <a:off x="4480560" y="4050792"/>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Automation bias is a real risk. Humans must remain in the decision loop for all consequential outcomes — and must actually exercise judgment, not rubber-stamp the algorithm.</a:t>
            </a:r>
            <a:endParaRPr b="0" i="0" sz="1300" u="none" cap="none" strike="noStrike">
              <a:solidFill>
                <a:schemeClr val="dk1"/>
              </a:solidFill>
              <a:latin typeface="Calibri"/>
              <a:ea typeface="Calibri"/>
              <a:cs typeface="Calibri"/>
              <a:sym typeface="Calibri"/>
            </a:endParaRPr>
          </a:p>
        </p:txBody>
      </p:sp>
      <p:sp>
        <p:nvSpPr>
          <p:cNvPr id="483" name="Google Shape;483;p33"/>
          <p:cNvSpPr/>
          <p:nvPr/>
        </p:nvSpPr>
        <p:spPr>
          <a:xfrm>
            <a:off x="8229600" y="3547872"/>
            <a:ext cx="3749040" cy="237744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3"/>
          <p:cNvSpPr/>
          <p:nvPr/>
        </p:nvSpPr>
        <p:spPr>
          <a:xfrm>
            <a:off x="8229600" y="3547872"/>
            <a:ext cx="3749040" cy="64008"/>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3"/>
          <p:cNvSpPr/>
          <p:nvPr/>
        </p:nvSpPr>
        <p:spPr>
          <a:xfrm>
            <a:off x="8366760" y="3657600"/>
            <a:ext cx="34747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500"/>
              <a:buFont typeface="Calibri"/>
              <a:buNone/>
            </a:pPr>
            <a:r>
              <a:rPr b="1" i="0" lang="en-US" sz="1500" u="none" cap="none" strike="noStrike">
                <a:solidFill>
                  <a:srgbClr val="028090"/>
                </a:solidFill>
                <a:latin typeface="Calibri"/>
                <a:ea typeface="Calibri"/>
                <a:cs typeface="Calibri"/>
                <a:sym typeface="Calibri"/>
              </a:rPr>
              <a:t>NIST AI RMF</a:t>
            </a:r>
            <a:endParaRPr b="0" i="0" sz="1500" u="none" cap="none" strike="noStrike">
              <a:solidFill>
                <a:schemeClr val="dk1"/>
              </a:solidFill>
              <a:latin typeface="Calibri"/>
              <a:ea typeface="Calibri"/>
              <a:cs typeface="Calibri"/>
              <a:sym typeface="Calibri"/>
            </a:endParaRPr>
          </a:p>
        </p:txBody>
      </p:sp>
      <p:sp>
        <p:nvSpPr>
          <p:cNvPr id="486" name="Google Shape;486;p33"/>
          <p:cNvSpPr/>
          <p:nvPr/>
        </p:nvSpPr>
        <p:spPr>
          <a:xfrm>
            <a:off x="8366760" y="4050792"/>
            <a:ext cx="3474720" cy="1783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GOVERN → MAP → MEASURE → MANAGE. These four functions provide a systematic approach to AI risk that complements your ethical reasoning.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91" name="Shape 491"/>
        <p:cNvGrpSpPr/>
        <p:nvPr/>
      </p:nvGrpSpPr>
      <p:grpSpPr>
        <a:xfrm>
          <a:off x="0" y="0"/>
          <a:ext cx="0" cy="0"/>
          <a:chOff x="0" y="0"/>
          <a:chExt cx="0" cy="0"/>
        </a:xfrm>
      </p:grpSpPr>
      <p:sp>
        <p:nvSpPr>
          <p:cNvPr id="492" name="Google Shape;492;p34"/>
          <p:cNvSpPr/>
          <p:nvPr/>
        </p:nvSpPr>
        <p:spPr>
          <a:xfrm>
            <a:off x="457200" y="274320"/>
            <a:ext cx="11247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800"/>
              <a:buFont typeface="Cambria"/>
              <a:buNone/>
            </a:pPr>
            <a:r>
              <a:rPr b="1" i="0" lang="en-US" sz="2800" u="none" cap="none" strike="noStrike">
                <a:solidFill>
                  <a:srgbClr val="00A896"/>
                </a:solidFill>
                <a:latin typeface="Cambria"/>
                <a:ea typeface="Cambria"/>
                <a:cs typeface="Cambria"/>
                <a:sym typeface="Cambria"/>
              </a:rPr>
              <a:t>Resources &amp; Looking Ahead</a:t>
            </a:r>
            <a:endParaRPr b="0" i="0" sz="2800" u="none" cap="none" strike="noStrike">
              <a:solidFill>
                <a:schemeClr val="dk1"/>
              </a:solidFill>
              <a:latin typeface="Calibri"/>
              <a:ea typeface="Calibri"/>
              <a:cs typeface="Calibri"/>
              <a:sym typeface="Calibri"/>
            </a:endParaRPr>
          </a:p>
        </p:txBody>
      </p:sp>
      <p:sp>
        <p:nvSpPr>
          <p:cNvPr id="493" name="Google Shape;493;p34"/>
          <p:cNvSpPr/>
          <p:nvPr/>
        </p:nvSpPr>
        <p:spPr>
          <a:xfrm>
            <a:off x="457200" y="914400"/>
            <a:ext cx="1124712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4"/>
          <p:cNvSpPr/>
          <p:nvPr/>
        </p:nvSpPr>
        <p:spPr>
          <a:xfrm>
            <a:off x="457200" y="1005840"/>
            <a:ext cx="11247120" cy="82296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4"/>
          <p:cNvSpPr/>
          <p:nvPr/>
        </p:nvSpPr>
        <p:spPr>
          <a:xfrm>
            <a:off x="640080" y="1078992"/>
            <a:ext cx="5029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NIST AI RMF</a:t>
            </a:r>
            <a:endParaRPr b="0" i="0" sz="1500" u="none" cap="none" strike="noStrike">
              <a:solidFill>
                <a:schemeClr val="dk1"/>
              </a:solidFill>
              <a:latin typeface="Calibri"/>
              <a:ea typeface="Calibri"/>
              <a:cs typeface="Calibri"/>
              <a:sym typeface="Calibri"/>
            </a:endParaRPr>
          </a:p>
        </p:txBody>
      </p:sp>
      <p:sp>
        <p:nvSpPr>
          <p:cNvPr id="496" name="Google Shape;496;p34"/>
          <p:cNvSpPr/>
          <p:nvPr/>
        </p:nvSpPr>
        <p:spPr>
          <a:xfrm>
            <a:off x="640080" y="1426464"/>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3B8"/>
              </a:buClr>
              <a:buSzPts val="1100"/>
              <a:buFont typeface="Calibri"/>
              <a:buNone/>
            </a:pPr>
            <a:r>
              <a:rPr b="0" i="0" lang="en-US" sz="1100" u="none" cap="none" strike="noStrike">
                <a:solidFill>
                  <a:srgbClr val="8BA3B8"/>
                </a:solidFill>
                <a:latin typeface="Calibri"/>
                <a:ea typeface="Calibri"/>
                <a:cs typeface="Calibri"/>
                <a:sym typeface="Calibri"/>
              </a:rPr>
              <a:t>https://www.nist.gov/itl/ai-risk-management-framework</a:t>
            </a:r>
            <a:endParaRPr b="0" i="0" sz="1100" u="none" cap="none" strike="noStrike">
              <a:solidFill>
                <a:schemeClr val="dk1"/>
              </a:solidFill>
              <a:latin typeface="Calibri"/>
              <a:ea typeface="Calibri"/>
              <a:cs typeface="Calibri"/>
              <a:sym typeface="Calibri"/>
            </a:endParaRPr>
          </a:p>
        </p:txBody>
      </p:sp>
      <p:sp>
        <p:nvSpPr>
          <p:cNvPr id="497" name="Google Shape;497;p34"/>
          <p:cNvSpPr/>
          <p:nvPr/>
        </p:nvSpPr>
        <p:spPr>
          <a:xfrm>
            <a:off x="6217920" y="1143000"/>
            <a:ext cx="5303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Full framework documentation and supporting resources</a:t>
            </a:r>
            <a:endParaRPr b="0" i="0" sz="1300" u="none" cap="none" strike="noStrike">
              <a:solidFill>
                <a:schemeClr val="dk1"/>
              </a:solidFill>
              <a:latin typeface="Calibri"/>
              <a:ea typeface="Calibri"/>
              <a:cs typeface="Calibri"/>
              <a:sym typeface="Calibri"/>
            </a:endParaRPr>
          </a:p>
        </p:txBody>
      </p:sp>
      <p:sp>
        <p:nvSpPr>
          <p:cNvPr id="498" name="Google Shape;498;p34"/>
          <p:cNvSpPr/>
          <p:nvPr/>
        </p:nvSpPr>
        <p:spPr>
          <a:xfrm>
            <a:off x="457200" y="1965960"/>
            <a:ext cx="11247120" cy="82296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4"/>
          <p:cNvSpPr/>
          <p:nvPr/>
        </p:nvSpPr>
        <p:spPr>
          <a:xfrm>
            <a:off x="640080" y="2039112"/>
            <a:ext cx="5029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NIST CSF 2.0</a:t>
            </a:r>
            <a:endParaRPr b="0" i="0" sz="1500" u="none" cap="none" strike="noStrike">
              <a:solidFill>
                <a:schemeClr val="dk1"/>
              </a:solidFill>
              <a:latin typeface="Calibri"/>
              <a:ea typeface="Calibri"/>
              <a:cs typeface="Calibri"/>
              <a:sym typeface="Calibri"/>
            </a:endParaRPr>
          </a:p>
        </p:txBody>
      </p:sp>
      <p:sp>
        <p:nvSpPr>
          <p:cNvPr id="500" name="Google Shape;500;p34"/>
          <p:cNvSpPr/>
          <p:nvPr/>
        </p:nvSpPr>
        <p:spPr>
          <a:xfrm>
            <a:off x="640080" y="2386584"/>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3B8"/>
              </a:buClr>
              <a:buSzPts val="1100"/>
              <a:buFont typeface="Calibri"/>
              <a:buNone/>
            </a:pPr>
            <a:r>
              <a:rPr b="0" i="0" lang="en-US" sz="1100" u="none" cap="none" strike="noStrike">
                <a:solidFill>
                  <a:srgbClr val="8BA3B8"/>
                </a:solidFill>
                <a:latin typeface="Calibri"/>
                <a:ea typeface="Calibri"/>
                <a:cs typeface="Calibri"/>
                <a:sym typeface="Calibri"/>
              </a:rPr>
              <a:t>https://www.nist.gov/cyberframework</a:t>
            </a:r>
            <a:endParaRPr b="0" i="0" sz="1100" u="none" cap="none" strike="noStrike">
              <a:solidFill>
                <a:schemeClr val="dk1"/>
              </a:solidFill>
              <a:latin typeface="Calibri"/>
              <a:ea typeface="Calibri"/>
              <a:cs typeface="Calibri"/>
              <a:sym typeface="Calibri"/>
            </a:endParaRPr>
          </a:p>
        </p:txBody>
      </p:sp>
      <p:sp>
        <p:nvSpPr>
          <p:cNvPr id="501" name="Google Shape;501;p34"/>
          <p:cNvSpPr/>
          <p:nvPr/>
        </p:nvSpPr>
        <p:spPr>
          <a:xfrm>
            <a:off x="6217920" y="2103120"/>
            <a:ext cx="5303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Cybersecurity Framework 2.0 — full text and quick-start guides</a:t>
            </a:r>
            <a:endParaRPr b="0" i="0" sz="1300" u="none" cap="none" strike="noStrike">
              <a:solidFill>
                <a:schemeClr val="dk1"/>
              </a:solidFill>
              <a:latin typeface="Calibri"/>
              <a:ea typeface="Calibri"/>
              <a:cs typeface="Calibri"/>
              <a:sym typeface="Calibri"/>
            </a:endParaRPr>
          </a:p>
        </p:txBody>
      </p:sp>
      <p:sp>
        <p:nvSpPr>
          <p:cNvPr id="502" name="Google Shape;502;p34"/>
          <p:cNvSpPr/>
          <p:nvPr/>
        </p:nvSpPr>
        <p:spPr>
          <a:xfrm>
            <a:off x="457200" y="2926080"/>
            <a:ext cx="11247120" cy="82296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4"/>
          <p:cNvSpPr/>
          <p:nvPr/>
        </p:nvSpPr>
        <p:spPr>
          <a:xfrm>
            <a:off x="640080" y="2999232"/>
            <a:ext cx="5029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AI RMF Explainer Video</a:t>
            </a:r>
            <a:endParaRPr b="0" i="0" sz="1500" u="none" cap="none" strike="noStrike">
              <a:solidFill>
                <a:schemeClr val="dk1"/>
              </a:solidFill>
              <a:latin typeface="Calibri"/>
              <a:ea typeface="Calibri"/>
              <a:cs typeface="Calibri"/>
              <a:sym typeface="Calibri"/>
            </a:endParaRPr>
          </a:p>
        </p:txBody>
      </p:sp>
      <p:sp>
        <p:nvSpPr>
          <p:cNvPr id="504" name="Google Shape;504;p34"/>
          <p:cNvSpPr/>
          <p:nvPr/>
        </p:nvSpPr>
        <p:spPr>
          <a:xfrm>
            <a:off x="640080" y="3346704"/>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3B8"/>
              </a:buClr>
              <a:buSzPts val="1100"/>
              <a:buFont typeface="Calibri"/>
              <a:buNone/>
            </a:pPr>
            <a:r>
              <a:rPr b="0" i="0" lang="en-US" sz="1100" u="none" cap="none" strike="noStrike">
                <a:solidFill>
                  <a:srgbClr val="8BA3B8"/>
                </a:solidFill>
                <a:latin typeface="Calibri"/>
                <a:ea typeface="Calibri"/>
                <a:cs typeface="Calibri"/>
                <a:sym typeface="Calibri"/>
              </a:rPr>
              <a:t>https://www.nist.gov/video/introduction-nist-ai-risk-management-framework-ai-rmf-10-explainer-video</a:t>
            </a:r>
            <a:endParaRPr b="0" i="0" sz="1100" u="none" cap="none" strike="noStrike">
              <a:solidFill>
                <a:schemeClr val="dk1"/>
              </a:solidFill>
              <a:latin typeface="Calibri"/>
              <a:ea typeface="Calibri"/>
              <a:cs typeface="Calibri"/>
              <a:sym typeface="Calibri"/>
            </a:endParaRPr>
          </a:p>
        </p:txBody>
      </p:sp>
      <p:sp>
        <p:nvSpPr>
          <p:cNvPr id="505" name="Google Shape;505;p34"/>
          <p:cNvSpPr/>
          <p:nvPr/>
        </p:nvSpPr>
        <p:spPr>
          <a:xfrm>
            <a:off x="6217920" y="3063240"/>
            <a:ext cx="5303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Optional: 10-minute NIST introduction video</a:t>
            </a:r>
            <a:endParaRPr b="0" i="0" sz="1300" u="none" cap="none" strike="noStrike">
              <a:solidFill>
                <a:schemeClr val="dk1"/>
              </a:solidFill>
              <a:latin typeface="Calibri"/>
              <a:ea typeface="Calibri"/>
              <a:cs typeface="Calibri"/>
              <a:sym typeface="Calibri"/>
            </a:endParaRPr>
          </a:p>
        </p:txBody>
      </p:sp>
      <p:sp>
        <p:nvSpPr>
          <p:cNvPr id="506" name="Google Shape;506;p34"/>
          <p:cNvSpPr/>
          <p:nvPr/>
        </p:nvSpPr>
        <p:spPr>
          <a:xfrm>
            <a:off x="457200" y="3886200"/>
            <a:ext cx="11247120" cy="82296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4"/>
          <p:cNvSpPr/>
          <p:nvPr/>
        </p:nvSpPr>
        <p:spPr>
          <a:xfrm>
            <a:off x="640080" y="3959352"/>
            <a:ext cx="5029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(ISC)² Code of Ethics</a:t>
            </a:r>
            <a:endParaRPr b="0" i="0" sz="1500" u="none" cap="none" strike="noStrike">
              <a:solidFill>
                <a:schemeClr val="dk1"/>
              </a:solidFill>
              <a:latin typeface="Calibri"/>
              <a:ea typeface="Calibri"/>
              <a:cs typeface="Calibri"/>
              <a:sym typeface="Calibri"/>
            </a:endParaRPr>
          </a:p>
        </p:txBody>
      </p:sp>
      <p:sp>
        <p:nvSpPr>
          <p:cNvPr id="508" name="Google Shape;508;p34"/>
          <p:cNvSpPr/>
          <p:nvPr/>
        </p:nvSpPr>
        <p:spPr>
          <a:xfrm>
            <a:off x="640080" y="4306824"/>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3B8"/>
              </a:buClr>
              <a:buSzPts val="1100"/>
              <a:buFont typeface="Calibri"/>
              <a:buNone/>
            </a:pPr>
            <a:r>
              <a:rPr b="0" i="0" lang="en-US" sz="1100" u="none" cap="none" strike="noStrike">
                <a:solidFill>
                  <a:srgbClr val="8BA3B8"/>
                </a:solidFill>
                <a:latin typeface="Calibri"/>
                <a:ea typeface="Calibri"/>
                <a:cs typeface="Calibri"/>
                <a:sym typeface="Calibri"/>
              </a:rPr>
              <a:t>https://www.isc2.org/Ethics</a:t>
            </a:r>
            <a:endParaRPr b="0" i="0" sz="1100" u="none" cap="none" strike="noStrike">
              <a:solidFill>
                <a:schemeClr val="dk1"/>
              </a:solidFill>
              <a:latin typeface="Calibri"/>
              <a:ea typeface="Calibri"/>
              <a:cs typeface="Calibri"/>
              <a:sym typeface="Calibri"/>
            </a:endParaRPr>
          </a:p>
        </p:txBody>
      </p:sp>
      <p:sp>
        <p:nvSpPr>
          <p:cNvPr id="509" name="Google Shape;509;p34"/>
          <p:cNvSpPr/>
          <p:nvPr/>
        </p:nvSpPr>
        <p:spPr>
          <a:xfrm>
            <a:off x="6217920" y="4023360"/>
            <a:ext cx="5303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Canonical professional code for security certification holders</a:t>
            </a:r>
            <a:endParaRPr b="0" i="0" sz="1300" u="none" cap="none" strike="noStrike">
              <a:solidFill>
                <a:schemeClr val="dk1"/>
              </a:solidFill>
              <a:latin typeface="Calibri"/>
              <a:ea typeface="Calibri"/>
              <a:cs typeface="Calibri"/>
              <a:sym typeface="Calibri"/>
            </a:endParaRPr>
          </a:p>
        </p:txBody>
      </p:sp>
      <p:sp>
        <p:nvSpPr>
          <p:cNvPr id="510" name="Google Shape;510;p34"/>
          <p:cNvSpPr/>
          <p:nvPr/>
        </p:nvSpPr>
        <p:spPr>
          <a:xfrm>
            <a:off x="457200" y="4846320"/>
            <a:ext cx="11247120" cy="822960"/>
          </a:xfrm>
          <a:prstGeom prst="rect">
            <a:avLst/>
          </a:prstGeom>
          <a:solidFill>
            <a:srgbClr val="1A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4"/>
          <p:cNvSpPr/>
          <p:nvPr/>
        </p:nvSpPr>
        <p:spPr>
          <a:xfrm>
            <a:off x="640080" y="4919472"/>
            <a:ext cx="5029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1500"/>
              <a:buFont typeface="Calibri"/>
              <a:buNone/>
            </a:pPr>
            <a:r>
              <a:rPr b="1" i="0" lang="en-US" sz="1500" u="none" cap="none" strike="noStrike">
                <a:solidFill>
                  <a:srgbClr val="00A896"/>
                </a:solidFill>
                <a:latin typeface="Calibri"/>
                <a:ea typeface="Calibri"/>
                <a:cs typeface="Calibri"/>
                <a:sym typeface="Calibri"/>
              </a:rPr>
              <a:t>ACM Code of Ethics</a:t>
            </a:r>
            <a:endParaRPr b="0" i="0" sz="1500" u="none" cap="none" strike="noStrike">
              <a:solidFill>
                <a:schemeClr val="dk1"/>
              </a:solidFill>
              <a:latin typeface="Calibri"/>
              <a:ea typeface="Calibri"/>
              <a:cs typeface="Calibri"/>
              <a:sym typeface="Calibri"/>
            </a:endParaRPr>
          </a:p>
        </p:txBody>
      </p:sp>
      <p:sp>
        <p:nvSpPr>
          <p:cNvPr id="512" name="Google Shape;512;p34"/>
          <p:cNvSpPr/>
          <p:nvPr/>
        </p:nvSpPr>
        <p:spPr>
          <a:xfrm>
            <a:off x="640080" y="5266944"/>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3B8"/>
              </a:buClr>
              <a:buSzPts val="1100"/>
              <a:buFont typeface="Calibri"/>
              <a:buNone/>
            </a:pPr>
            <a:r>
              <a:rPr b="0" i="0" lang="en-US" sz="1100" u="none" cap="none" strike="noStrike">
                <a:solidFill>
                  <a:srgbClr val="8BA3B8"/>
                </a:solidFill>
                <a:latin typeface="Calibri"/>
                <a:ea typeface="Calibri"/>
                <a:cs typeface="Calibri"/>
                <a:sym typeface="Calibri"/>
              </a:rPr>
              <a:t>https://www.acm.org/code-of-ethics</a:t>
            </a:r>
            <a:endParaRPr b="0" i="0" sz="1100" u="none" cap="none" strike="noStrike">
              <a:solidFill>
                <a:schemeClr val="dk1"/>
              </a:solidFill>
              <a:latin typeface="Calibri"/>
              <a:ea typeface="Calibri"/>
              <a:cs typeface="Calibri"/>
              <a:sym typeface="Calibri"/>
            </a:endParaRPr>
          </a:p>
        </p:txBody>
      </p:sp>
      <p:sp>
        <p:nvSpPr>
          <p:cNvPr id="513" name="Google Shape;513;p34"/>
          <p:cNvSpPr/>
          <p:nvPr/>
        </p:nvSpPr>
        <p:spPr>
          <a:xfrm>
            <a:off x="6217920" y="4983480"/>
            <a:ext cx="5303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DF2"/>
              </a:buClr>
              <a:buSzPts val="1300"/>
              <a:buFont typeface="Calibri"/>
              <a:buNone/>
            </a:pPr>
            <a:r>
              <a:rPr b="0" i="0" lang="en-US" sz="1300" u="none" cap="none" strike="noStrike">
                <a:solidFill>
                  <a:srgbClr val="E8EDF2"/>
                </a:solidFill>
                <a:latin typeface="Calibri"/>
                <a:ea typeface="Calibri"/>
                <a:cs typeface="Calibri"/>
                <a:sym typeface="Calibri"/>
              </a:rPr>
              <a:t>Broader computing ethics framework applicable to all tech professionals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518" name="Shape 518"/>
        <p:cNvGrpSpPr/>
        <p:nvPr/>
      </p:nvGrpSpPr>
      <p:grpSpPr>
        <a:xfrm>
          <a:off x="0" y="0"/>
          <a:ext cx="0" cy="0"/>
          <a:chOff x="0" y="0"/>
          <a:chExt cx="0" cy="0"/>
        </a:xfrm>
      </p:grpSpPr>
      <p:sp>
        <p:nvSpPr>
          <p:cNvPr id="519" name="Google Shape;519;p35"/>
          <p:cNvSpPr/>
          <p:nvPr/>
        </p:nvSpPr>
        <p:spPr>
          <a:xfrm>
            <a:off x="0" y="0"/>
            <a:ext cx="201168" cy="6858000"/>
          </a:xfrm>
          <a:prstGeom prst="rect">
            <a:avLst/>
          </a:prstGeom>
          <a:solidFill>
            <a:srgbClr val="00A8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5"/>
          <p:cNvSpPr/>
          <p:nvPr/>
        </p:nvSpPr>
        <p:spPr>
          <a:xfrm>
            <a:off x="548640" y="1371600"/>
            <a:ext cx="1115568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Cambria"/>
              <a:buNone/>
            </a:pPr>
            <a:r>
              <a:rPr b="1" i="0" lang="en-US" sz="6000" u="none" cap="none" strike="noStrike">
                <a:solidFill>
                  <a:srgbClr val="FFFFFF"/>
                </a:solidFill>
                <a:latin typeface="Cambria"/>
                <a:ea typeface="Cambria"/>
                <a:cs typeface="Cambria"/>
                <a:sym typeface="Cambria"/>
              </a:rPr>
              <a:t>Questions?</a:t>
            </a:r>
            <a:endParaRPr b="0" i="0" sz="6000" u="none" cap="none" strike="noStrike">
              <a:solidFill>
                <a:schemeClr val="dk1"/>
              </a:solidFill>
              <a:latin typeface="Calibri"/>
              <a:ea typeface="Calibri"/>
              <a:cs typeface="Calibri"/>
              <a:sym typeface="Calibri"/>
            </a:endParaRPr>
          </a:p>
        </p:txBody>
      </p:sp>
      <p:sp>
        <p:nvSpPr>
          <p:cNvPr id="521" name="Google Shape;521;p35"/>
          <p:cNvSpPr/>
          <p:nvPr/>
        </p:nvSpPr>
        <p:spPr>
          <a:xfrm>
            <a:off x="548640" y="2926080"/>
            <a:ext cx="10515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2000"/>
              <a:buFont typeface="Calibri"/>
              <a:buNone/>
            </a:pPr>
            <a:r>
              <a:rPr b="0" i="1" lang="en-US" sz="2000" u="none" cap="none" strike="noStrike">
                <a:solidFill>
                  <a:srgbClr val="00A896"/>
                </a:solidFill>
                <a:latin typeface="Calibri"/>
                <a:ea typeface="Calibri"/>
                <a:cs typeface="Calibri"/>
                <a:sym typeface="Calibri"/>
              </a:rPr>
              <a:t>The goal of this course is not to make you suspicious of AI — it is to make you the kind of professional who asks the right questions before acting on it.</a:t>
            </a:r>
            <a:endParaRPr b="0" i="0" sz="2000" u="none" cap="none" strike="noStrike">
              <a:solidFill>
                <a:schemeClr val="dk1"/>
              </a:solidFill>
              <a:latin typeface="Calibri"/>
              <a:ea typeface="Calibri"/>
              <a:cs typeface="Calibri"/>
              <a:sym typeface="Calibri"/>
            </a:endParaRPr>
          </a:p>
        </p:txBody>
      </p:sp>
      <p:sp>
        <p:nvSpPr>
          <p:cNvPr id="522" name="Google Shape;522;p35"/>
          <p:cNvSpPr/>
          <p:nvPr/>
        </p:nvSpPr>
        <p:spPr>
          <a:xfrm>
            <a:off x="548640" y="5943600"/>
            <a:ext cx="11155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3B8"/>
              </a:buClr>
              <a:buSzPts val="1400"/>
              <a:buFont typeface="Calibri"/>
              <a:buNone/>
            </a:pPr>
            <a:r>
              <a:rPr b="0" i="0" lang="en-US" sz="1400" u="none" cap="none" strike="noStrike">
                <a:solidFill>
                  <a:srgbClr val="8BA3B8"/>
                </a:solidFill>
                <a:latin typeface="Calibri"/>
                <a:ea typeface="Calibri"/>
                <a:cs typeface="Calibri"/>
                <a:sym typeface="Calibri"/>
              </a:rPr>
              <a:t>Class Meeting 2  |  Cyber Ethics &amp; Law</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2026-08-19T15:46:31Z</dcterms:created>
  <dc:creator>PptxGenJS</dc:creator>
</cp:coreProperties>
</file>